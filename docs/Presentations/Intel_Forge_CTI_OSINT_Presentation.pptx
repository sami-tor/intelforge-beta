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6" r:id="rId19"/>
    <p:sldId id="273" r:id="rId20"/>
    <p:sldId id="274" r:id="rId21"/>
    <p:sldId id="272" r:id="rId22"/>
    <p:sldId id="27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60400"/>
            <a:ext cx="7772400" cy="1470025"/>
          </a:xfrm>
        </p:spPr>
        <p:txBody>
          <a:bodyPr/>
          <a:lstStyle/>
          <a:p>
            <a:pPr>
              <a:defRPr sz="4400" b="1"/>
            </a:pPr>
            <a:r>
              <a:t>Intel Forge: CTI &amp; OSINT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0480" y="2133600"/>
            <a:ext cx="6789420" cy="3984625"/>
          </a:xfrm>
        </p:spPr>
        <p:txBody>
          <a:bodyPr>
            <a:normAutofit lnSpcReduction="20000"/>
          </a:bodyPr>
          <a:lstStyle/>
          <a:p>
            <a:r>
              <a:t>Cyber Threat Intelligence &amp; Open Source Intelligence Platform</a:t>
            </a:r>
          </a:p>
          <a:p/>
          <a:p>
            <a:r>
              <a:rPr lang="en-US">
                <a:solidFill>
                  <a:schemeClr val="tx1"/>
                </a:solidFill>
              </a:rPr>
              <a:t>Sami Ullah[BSSE-F22-E21]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Hamid Rehan</a:t>
            </a:r>
            <a:r>
              <a:rPr lang="en-US">
                <a:solidFill>
                  <a:schemeClr val="tx1"/>
                </a:solidFill>
                <a:sym typeface="+mn-ea"/>
              </a:rPr>
              <a:t>[BSSE-F22-E11]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Farhan Khan</a:t>
            </a:r>
            <a:r>
              <a:rPr lang="en-US">
                <a:solidFill>
                  <a:schemeClr val="tx1"/>
                </a:solidFill>
                <a:sym typeface="+mn-ea"/>
              </a:rPr>
              <a:t>[BSSE-F22-E14]</a:t>
            </a:r>
            <a:endParaRPr lang="en-US">
              <a:solidFill>
                <a:schemeClr val="tx1"/>
              </a:solidFill>
              <a:sym typeface="+mn-ea"/>
            </a:endParaRPr>
          </a:p>
          <a:p/>
          <a:p>
            <a:r>
              <a:rPr b="1" u="sng"/>
              <a:t>Final Year Project 2022-2026</a:t>
            </a:r>
            <a:endParaRPr b="1" u="sn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600"/>
              </a:spcAft>
              <a:defRPr sz="1600"/>
            </a:pPr>
            <a:r>
              <a:t>Intel Forge is an advanced Cyber Threat Intelligence (CTI) and Open Source Intelligence (OSINT) platform</a:t>
            </a:r>
          </a:p>
          <a:p>
            <a:pPr>
              <a:spcAft>
                <a:spcPts val="600"/>
              </a:spcAft>
              <a:defRPr sz="1600"/>
            </a:pPr>
            <a:r>
              <a:t>Enables fast, secure, and controlled access to large-scale unstructured data repositories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t>Two primary search capabilities:</a:t>
            </a:r>
          </a:p>
          <a:p>
            <a:pPr marL="0" indent="457200">
              <a:spcAft>
                <a:spcPts val="600"/>
              </a:spcAft>
              <a:buNone/>
              <a:defRPr sz="1600"/>
            </a:pPr>
            <a:r>
              <a:t>Face Recognition Search: AI-powered facial recognition using ArcFace/UniFace models</a:t>
            </a:r>
          </a:p>
          <a:p>
            <a:pPr marL="0" indent="457200">
              <a:spcAft>
                <a:spcPts val="600"/>
              </a:spcAft>
              <a:buNone/>
              <a:defRPr sz="1600"/>
            </a:pPr>
            <a:r>
              <a:t>Text Search: Full-text search across indexed files using Quickwit search engine</a:t>
            </a:r>
            <a:r>
              <a:rPr lang="en-US"/>
              <a:t>.</a:t>
            </a:r>
            <a:endParaRPr lang="en-US"/>
          </a:p>
          <a:p>
            <a:pPr marL="0" indent="457200">
              <a:spcAft>
                <a:spcPts val="600"/>
              </a:spcAft>
              <a:buNone/>
              <a:defRPr sz="1600"/>
            </a:pPr>
          </a:p>
          <a:p>
            <a:pPr>
              <a:spcAft>
                <a:spcPts val="600"/>
              </a:spcAft>
              <a:defRPr sz="1600"/>
            </a:pPr>
            <a:r>
              <a:t>Addresses critical challenges in modern intelligence workflows</a:t>
            </a:r>
          </a:p>
          <a:p>
            <a:pPr>
              <a:spcAft>
                <a:spcPts val="600"/>
              </a:spcAft>
              <a:defRPr sz="1600"/>
            </a:pPr>
            <a:r>
              <a:t>Supports organizations in threat detection, brand protection, and intelligence gathering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lnSpcReduction="20000"/>
          </a:bodyPr>
          <a:lstStyle/>
          <a:p/>
          <a:p>
            <a:pPr marL="0" indent="0">
              <a:spcAft>
                <a:spcPts val="600"/>
              </a:spcAft>
              <a:buNone/>
              <a:defRPr sz="1600"/>
            </a:pPr>
            <a:r>
              <a:rPr lang="en-US" altLang="en-US"/>
              <a:t>Modern intelligence and cybersecurity teams face a critical challenge in searching and analyzing massive volumes of unstructured data from the surface web, dark web, and messaging platforms.</a:t>
            </a:r>
            <a:endParaRPr lang="en-US" altLang="en-US"/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lang="en-US" altLang="en-US"/>
              <a:t>Manual investigation methods are slow, error-prone, and unable to scale for real-time threat detection and brand protection.</a:t>
            </a:r>
            <a:endParaRPr lang="en-US" altLang="en-US"/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lang="en-US" altLang="en-US"/>
              <a:t>Existing solutions lack integration, automated multi-source data collection, and advanced search capabilities across text, images, and identities.</a:t>
            </a:r>
            <a:endParaRPr lang="en-US" altLang="en-US"/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lang="en-US" altLang="en-US"/>
              <a:t>Organizations struggle to secure and control access to large intelligence datasets while handling growing cyber threats and impersonation risks.</a:t>
            </a:r>
            <a:endParaRPr lang="en-US" altLang="en-US"/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lang="en-US" altLang="en-US"/>
              <a:t>This creates an urgent need for a scalable, secure CTI and OSINT platform capable of automated collection, indexing, and fast search at global scale.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lang="en-US"/>
              <a:t>Website Interface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1095" y="1104265"/>
            <a:ext cx="6617335" cy="53219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Cyber Threat Intelligence (CTI)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600"/>
              </a:spcAft>
              <a:defRPr sz="1600"/>
            </a:pPr>
            <a:r>
              <a:t>Real-time monitoring of dark web sources (onion sites)</a:t>
            </a:r>
          </a:p>
          <a:p>
            <a:pPr marL="0" indent="457200">
              <a:spcAft>
                <a:spcPts val="600"/>
              </a:spcAft>
              <a:buNone/>
              <a:defRPr sz="1600"/>
            </a:pPr>
            <a:r>
              <a:t> </a:t>
            </a:r>
            <a:r>
              <a:rPr lang="en-US"/>
              <a:t>  </a:t>
            </a:r>
            <a:r>
              <a:t>Brand mentions, leaked credentials, intellectual property</a:t>
            </a:r>
          </a:p>
          <a:p>
            <a:pPr>
              <a:spcAft>
                <a:spcPts val="600"/>
              </a:spcAft>
              <a:defRPr sz="1600"/>
            </a:pPr>
            <a:r>
              <a:t>Telegram channel monitoring for threat actors</a:t>
            </a:r>
          </a:p>
          <a:p>
            <a:pPr marL="0" indent="457200">
              <a:spcAft>
                <a:spcPts val="600"/>
              </a:spcAft>
              <a:buNone/>
              <a:defRPr sz="1600"/>
            </a:pPr>
            <a:r>
              <a:rPr lang="en-US"/>
              <a:t> </a:t>
            </a:r>
            <a:r>
              <a:t>Data breaches and brand impersonation detection</a:t>
            </a:r>
          </a:p>
          <a:p>
            <a:pPr>
              <a:spcAft>
                <a:spcPts val="600"/>
              </a:spcAft>
              <a:defRPr sz="1600"/>
            </a:pPr>
            <a:r>
              <a:t>Surface web scraping for public mentions</a:t>
            </a:r>
          </a:p>
          <a:p>
            <a:pPr marL="0" indent="457200">
              <a:spcAft>
                <a:spcPts val="600"/>
              </a:spcAft>
              <a:buNone/>
              <a:defRPr sz="1600"/>
            </a:pPr>
            <a:r>
              <a:t> </a:t>
            </a:r>
            <a:r>
              <a:rPr lang="en-US"/>
              <a:t> </a:t>
            </a:r>
            <a:r>
              <a:t>Social media monitoring and reputation management</a:t>
            </a:r>
          </a:p>
          <a:p>
            <a:pPr>
              <a:spcAft>
                <a:spcPts val="600"/>
              </a:spcAft>
              <a:defRPr sz="1600"/>
            </a:pPr>
            <a:r>
              <a:t>Automated alerting system</a:t>
            </a:r>
          </a:p>
          <a:p>
            <a:pPr marL="0" indent="457200">
              <a:spcAft>
                <a:spcPts val="600"/>
              </a:spcAft>
              <a:buNone/>
              <a:defRPr sz="1600"/>
            </a:pPr>
            <a:r>
              <a:t>  </a:t>
            </a:r>
            <a:r>
              <a:rPr lang="en-US"/>
              <a:t> </a:t>
            </a:r>
            <a:r>
              <a:t>Immediate notifications when threats are detected</a:t>
            </a:r>
          </a:p>
          <a:p>
            <a:pPr>
              <a:spcAft>
                <a:spcPts val="600"/>
              </a:spcAft>
              <a:defRPr sz="1600"/>
            </a:pPr>
            <a:r>
              <a:t>Historical threat data analysis and trend identification</a:t>
            </a:r>
          </a:p>
          <a:p>
            <a:pPr>
              <a:spcAft>
                <a:spcPts val="600"/>
              </a:spcAft>
              <a:defRPr sz="1600"/>
            </a:pPr>
            <a:r>
              <a:t>Comprehensive threat intelligence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OSINT &amp; Brand Protection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OSINT Capabilities:</a:t>
            </a:r>
          </a:p>
          <a:p>
            <a:pPr>
              <a:defRPr sz="1400"/>
            </a:pPr>
            <a:r>
              <a:t>Automated data scraping</a:t>
            </a:r>
          </a:p>
          <a:p>
            <a:pPr>
              <a:defRPr sz="1400"/>
            </a:pPr>
            <a:r>
              <a:t>Multi-source aggregation</a:t>
            </a:r>
          </a:p>
          <a:p>
            <a:pPr>
              <a:defRPr sz="1400"/>
            </a:pPr>
            <a:r>
              <a:t>Real-time indexing</a:t>
            </a:r>
          </a:p>
          <a:p>
            <a:pPr>
              <a:defRPr sz="1400"/>
            </a:pPr>
            <a:r>
              <a:t>Historical data analysis</a:t>
            </a:r>
          </a:p>
          <a:p>
            <a:pPr>
              <a:defRPr sz="1400"/>
            </a:pPr>
            <a:r>
              <a:t>Trend identification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Brand Protection:</a:t>
            </a:r>
          </a:p>
          <a:p>
            <a:pPr>
              <a:defRPr sz="1400"/>
            </a:pPr>
            <a:r>
              <a:t>Brand name misuse detection</a:t>
            </a:r>
          </a:p>
          <a:p>
            <a:pPr>
              <a:defRPr sz="1400"/>
            </a:pPr>
            <a:r>
              <a:t>Logo infringement identification</a:t>
            </a:r>
          </a:p>
          <a:p>
            <a:pPr>
              <a:defRPr sz="1400"/>
            </a:pPr>
            <a:r>
              <a:t>Phishing site detection</a:t>
            </a:r>
          </a:p>
          <a:p>
            <a:pPr>
              <a:defRPr sz="1400"/>
            </a:pPr>
            <a:r>
              <a:t>Domain monitoring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/>
          <a:p>
            <a:pPr>
              <a:defRPr sz="1400"/>
            </a:pPr>
            <a:r>
              <a:t>Advanced Features:</a:t>
            </a:r>
          </a:p>
          <a:p>
            <a:pPr>
              <a:defRPr sz="1400"/>
            </a:pPr>
            <a:r>
              <a:t>Social media impersonation detection</a:t>
            </a:r>
          </a:p>
          <a:p>
            <a:pPr>
              <a:defRPr sz="1400"/>
            </a:pPr>
            <a:r>
              <a:t>Counterfeit product identification</a:t>
            </a:r>
          </a:p>
          <a:p>
            <a:pPr>
              <a:defRPr sz="1400"/>
            </a:pPr>
            <a:r>
              <a:t>Automated takedown requests</a:t>
            </a:r>
          </a:p>
          <a:p>
            <a:pPr>
              <a:defRPr sz="1400"/>
            </a:pPr>
            <a:r>
              <a:t>Image recognition for trademarks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Monitoring Sources:</a:t>
            </a:r>
          </a:p>
          <a:p>
            <a:pPr>
              <a:defRPr sz="1400"/>
            </a:pPr>
            <a:r>
              <a:t>Surface web (public sites)</a:t>
            </a:r>
          </a:p>
          <a:p>
            <a:pPr>
              <a:defRPr sz="1400"/>
            </a:pPr>
            <a:r>
              <a:t>Telegram channels</a:t>
            </a:r>
          </a:p>
          <a:p>
            <a:pPr>
              <a:defRPr sz="1400"/>
            </a:pPr>
            <a:r>
              <a:t>Dark web forums</a:t>
            </a:r>
          </a:p>
          <a:p>
            <a:pPr>
              <a:defRPr sz="1400"/>
            </a:pPr>
            <a:r>
              <a:t>Social media platforms</a:t>
            </a:r>
          </a:p>
          <a:p>
            <a:pPr>
              <a:defRPr sz="1400"/>
            </a:pPr>
            <a:r>
              <a:t>Marketplaces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Automated Data Collection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5379085"/>
          </a:xfrm>
        </p:spPr>
        <p:txBody>
          <a:bodyPr wrap="square">
            <a:normAutofit lnSpcReduction="20000"/>
          </a:bodyPr>
          <a:lstStyle/>
          <a:p/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Surface Web Scraping: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Public websites, forums, social media platforms</a:t>
            </a:r>
          </a:p>
          <a:p>
            <a:pPr>
              <a:spcAft>
                <a:spcPts val="600"/>
              </a:spcAft>
              <a:defRPr sz="1600"/>
            </a:pPr>
            <a:r>
              <a:t>  Threads profile scraping using GraphQL API</a:t>
            </a:r>
          </a:p>
          <a:p>
            <a:pPr>
              <a:spcAft>
                <a:spcPts val="600"/>
              </a:spcAft>
              <a:defRPr sz="1600"/>
            </a:pPr>
            <a:r>
              <a:t>  Public database scraping</a:t>
            </a:r>
          </a:p>
          <a:p>
            <a:pPr>
              <a:spcAft>
                <a:spcPts val="600"/>
              </a:spcAft>
              <a:defRPr sz="1600"/>
            </a:pPr>
            <a:r>
              <a:t>  RSS feed monitoring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Telegram Channels &amp; Groups: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Real-time message and media monitoring</a:t>
            </a:r>
          </a:p>
          <a:p>
            <a:pPr>
              <a:spcAft>
                <a:spcPts val="600"/>
              </a:spcAft>
              <a:defRPr sz="1600"/>
            </a:pPr>
            <a:r>
              <a:t>  Automated file extraction</a:t>
            </a:r>
          </a:p>
          <a:p>
            <a:pPr>
              <a:spcAft>
                <a:spcPts val="600"/>
              </a:spcAft>
              <a:defRPr sz="1600"/>
            </a:pPr>
            <a:r>
              <a:t>  MTProxy support for enhanced privacy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Dark Web (Onion Network):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Tor network integration</a:t>
            </a:r>
          </a:p>
          <a:p>
            <a:pPr>
              <a:spcAft>
                <a:spcPts val="600"/>
              </a:spcAft>
              <a:defRPr sz="1600"/>
            </a:pPr>
            <a:r>
              <a:t>  Automated crawling of forums and marketplaces</a:t>
            </a:r>
          </a:p>
          <a:p>
            <a:pPr>
              <a:spcAft>
                <a:spcPts val="600"/>
              </a:spcAft>
              <a:defRPr sz="1600"/>
            </a:pPr>
            <a:r>
              <a:t>  Privacy-preserving scraping with randomized delays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Automatic Indexing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059815"/>
            <a:ext cx="8229600" cy="5424805"/>
          </a:xfrm>
        </p:spPr>
        <p:txBody>
          <a:bodyPr wrap="square">
            <a:normAutofit fontScale="65000"/>
          </a:bodyPr>
          <a:lstStyle/>
          <a:p/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File Detection &amp; Monitoring: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File system watcher monitors /data directory</a:t>
            </a:r>
          </a:p>
          <a:p>
            <a:pPr>
              <a:spcAft>
                <a:spcPts val="600"/>
              </a:spcAft>
              <a:defRPr sz="1600"/>
            </a:pPr>
            <a:r>
              <a:t>  Automatic detection of new files from scrapers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File Processing: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Archive extraction (ZIP, RAR, 7Z)</a:t>
            </a:r>
          </a:p>
          <a:p>
            <a:pPr>
              <a:spcAft>
                <a:spcPts val="600"/>
              </a:spcAft>
              <a:defRPr sz="1600"/>
            </a:pPr>
            <a:r>
              <a:t>  Document parsing (PDF, DOCX, XLSX)</a:t>
            </a:r>
          </a:p>
          <a:p>
            <a:pPr>
              <a:spcAft>
                <a:spcPts val="600"/>
              </a:spcAft>
              <a:defRPr sz="1600"/>
            </a:pPr>
            <a:r>
              <a:t>  Image OCR using Tesseract</a:t>
            </a:r>
          </a:p>
          <a:p>
            <a:pPr>
              <a:spcAft>
                <a:spcPts val="600"/>
              </a:spcAft>
              <a:defRPr sz="1600"/>
            </a:pPr>
            <a:r>
              <a:t>  Text file indexing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Text Indexing: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Batch indexing to Quickwit (1000 lines/batch)</a:t>
            </a:r>
          </a:p>
          <a:p>
            <a:pPr>
              <a:spcAft>
                <a:spcPts val="600"/>
              </a:spcAft>
              <a:defRPr sz="1600"/>
            </a:pPr>
            <a:r>
              <a:t>  Duplicate detection using MD5 hash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Image &amp; Face Indexing: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Face detection using YOLO/MTCNN</a:t>
            </a:r>
          </a:p>
          <a:p>
            <a:pPr>
              <a:spcAft>
                <a:spcPts val="600"/>
              </a:spcAft>
              <a:defRPr sz="1600"/>
            </a:pPr>
            <a:r>
              <a:t>  Face embeddings using ArcFace/UniFace</a:t>
            </a:r>
          </a:p>
          <a:p>
            <a:pPr>
              <a:spcAft>
                <a:spcPts val="600"/>
              </a:spcAft>
              <a:defRPr sz="1600"/>
            </a:pPr>
            <a:r>
              <a:t>  Vector storage in Milvus</a:t>
            </a:r>
          </a:p>
          <a:p>
            <a:pPr>
              <a:spcAft>
                <a:spcPts val="600"/>
              </a:spcAft>
              <a:defRPr sz="1600"/>
            </a:pPr>
            <a:r>
              <a:t>  Original images in MinIO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2520"/>
            <a:ext cx="8229600" cy="4525963"/>
          </a:xfrm>
        </p:spPr>
        <p:txBody>
          <a:bodyPr wrap="square">
            <a:normAutofit fontScale="60000"/>
          </a:bodyPr>
          <a:lstStyle/>
          <a:p>
            <a:pPr marL="0" indent="0">
              <a:buNone/>
            </a:pPr>
            <a:r>
              <a:t>Hybrid Layered Architecture with MVC Pattern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sz="2570" b="1"/>
              <a:t>Layers:</a:t>
            </a:r>
            <a:endParaRPr sz="2570" b="1"/>
          </a:p>
          <a:p>
            <a:pPr>
              <a:spcAft>
                <a:spcPts val="600"/>
              </a:spcAft>
              <a:defRPr sz="1600"/>
            </a:pPr>
            <a:r>
              <a:t>  Presentation Layer: Next.js Frontend (React 19, TypeScript)</a:t>
            </a:r>
          </a:p>
          <a:p>
            <a:pPr>
              <a:spcAft>
                <a:spcPts val="600"/>
              </a:spcAft>
              <a:defRPr sz="1600"/>
            </a:pPr>
            <a:r>
              <a:t>  Application Layer: Next.js API Routes (Business Logic)</a:t>
            </a:r>
          </a:p>
          <a:p>
            <a:pPr>
              <a:spcAft>
                <a:spcPts val="600"/>
              </a:spcAft>
              <a:defRPr sz="1600"/>
            </a:pPr>
            <a:r>
              <a:t>  Data Access Layer: PostgreSQL with connection pooling</a:t>
            </a:r>
          </a:p>
          <a:p>
            <a:pPr>
              <a:spcAft>
                <a:spcPts val="600"/>
              </a:spcAft>
              <a:defRPr sz="1600"/>
            </a:pPr>
            <a:r>
              <a:t>  External Services: Quickwit, Milvus, MinIO, Face Recognition Service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Microservices Integration: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Face Recognition Service (Python)</a:t>
            </a:r>
          </a:p>
          <a:p>
            <a:pPr>
              <a:spcAft>
                <a:spcPts val="600"/>
              </a:spcAft>
              <a:defRPr sz="1600"/>
            </a:pPr>
            <a:r>
              <a:t>  Go Indexer (High-performance indexing)</a:t>
            </a:r>
          </a:p>
          <a:p>
            <a:pPr>
              <a:spcAft>
                <a:spcPts val="600"/>
              </a:spcAft>
              <a:defRPr sz="1600"/>
            </a:pPr>
            <a:r>
              <a:t>  Telegram Scraper (Python)</a:t>
            </a:r>
          </a:p>
          <a:p>
            <a:pPr>
              <a:spcAft>
                <a:spcPts val="600"/>
              </a:spcAft>
              <a:defRPr sz="1600"/>
            </a:pPr>
            <a:r>
              <a:t>  Threads Scraper (Python)</a:t>
            </a:r>
          </a:p>
          <a:p>
            <a:pPr>
              <a:spcAft>
                <a:spcPts val="600"/>
              </a:spcAft>
              <a:defRPr sz="1600"/>
            </a:pPr>
            <a:r>
              <a:t>  Auto-Indexer (Python)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Deployment: Docker Compose with horizontal scaling support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620" y="1310640"/>
            <a:ext cx="4038600" cy="4525963"/>
          </a:xfrm>
        </p:spPr>
        <p:txBody>
          <a:bodyPr/>
          <a:lstStyle/>
          <a:p/>
          <a:p>
            <a:pPr>
              <a:defRPr sz="1400"/>
            </a:pPr>
            <a:r>
              <a:t>Frontend:</a:t>
            </a:r>
          </a:p>
          <a:p>
            <a:pPr>
              <a:defRPr sz="1400"/>
            </a:pPr>
            <a:r>
              <a:t>Next.js 15</a:t>
            </a:r>
          </a:p>
          <a:p>
            <a:pPr>
              <a:defRPr sz="1400"/>
            </a:pPr>
            <a:r>
              <a:t>React 19</a:t>
            </a:r>
          </a:p>
          <a:p>
            <a:pPr>
              <a:defRPr sz="1400"/>
            </a:pPr>
            <a:r>
              <a:t>TypeScript</a:t>
            </a:r>
          </a:p>
          <a:p>
            <a:pPr>
              <a:defRPr sz="1400"/>
            </a:pPr>
            <a:r>
              <a:t>Tailwind CSS</a:t>
            </a:r>
          </a:p>
          <a:p>
            <a:pPr>
              <a:defRPr sz="1400"/>
            </a:pPr>
            <a:r>
              <a:t>Radix UI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Backend:</a:t>
            </a:r>
          </a:p>
          <a:p>
            <a:pPr>
              <a:defRPr sz="1400"/>
            </a:pPr>
            <a:r>
              <a:t>Next.js API Routes</a:t>
            </a:r>
          </a:p>
          <a:p>
            <a:pPr>
              <a:defRPr sz="1400"/>
            </a:pPr>
            <a:r>
              <a:t>Python Services</a:t>
            </a:r>
          </a:p>
          <a:p>
            <a:pPr>
              <a:defRPr sz="1400"/>
            </a:pPr>
            <a:r>
              <a:t>Go Services</a:t>
            </a:r>
          </a:p>
          <a:p>
            <a:pPr>
              <a:defRPr sz="1400"/>
            </a:pPr>
            <a:r>
              <a:t>PostgreSQL 15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Search &amp; Storage:</a:t>
            </a:r>
          </a:p>
          <a:p>
            <a:pPr>
              <a:defRPr sz="1400"/>
            </a:pPr>
            <a:r>
              <a:t>Quickwit</a:t>
            </a:r>
          </a:p>
          <a:p>
            <a:pPr>
              <a:defRPr sz="1400"/>
            </a:pPr>
            <a:r>
              <a:t>Milvus</a:t>
            </a:r>
          </a:p>
          <a:p>
            <a:pPr>
              <a:defRPr sz="1400"/>
            </a:pPr>
            <a:r>
              <a:t>MinIO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10640"/>
            <a:ext cx="4038600" cy="4525963"/>
          </a:xfrm>
        </p:spPr>
        <p:txBody>
          <a:bodyPr/>
          <a:lstStyle/>
          <a:p/>
          <a:p>
            <a:pPr>
              <a:defRPr sz="1400"/>
            </a:pPr>
            <a:r>
              <a:t>AI/ML Models:</a:t>
            </a:r>
          </a:p>
          <a:p>
            <a:pPr>
              <a:defRPr sz="1400"/>
            </a:pPr>
            <a:r>
              <a:t>ArcFace (Face Recognition)</a:t>
            </a:r>
          </a:p>
          <a:p>
            <a:pPr>
              <a:defRPr sz="1400"/>
            </a:pPr>
            <a:r>
              <a:t>UniFace (Face Recognition)</a:t>
            </a:r>
          </a:p>
          <a:p>
            <a:pPr>
              <a:defRPr sz="1400"/>
            </a:pPr>
            <a:r>
              <a:t>YOLO (Object Detection)</a:t>
            </a:r>
          </a:p>
          <a:p>
            <a:pPr>
              <a:defRPr sz="1400"/>
            </a:pPr>
            <a:r>
              <a:t>Tesseract OCR</a:t>
            </a:r>
          </a:p>
          <a:p>
            <a:pPr>
              <a:defRPr sz="1400"/>
            </a:pPr>
            <a:r>
              <a:t>EasyOCR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Data Collection:</a:t>
            </a:r>
          </a:p>
          <a:p>
            <a:pPr>
              <a:defRPr sz="1400"/>
            </a:pPr>
            <a:r>
              <a:t>Telethon (Telegram)</a:t>
            </a:r>
          </a:p>
          <a:p>
            <a:pPr>
              <a:defRPr sz="1400"/>
            </a:pPr>
            <a:r>
              <a:t>BeautifulSoup</a:t>
            </a:r>
          </a:p>
          <a:p>
            <a:pPr>
              <a:defRPr sz="1400"/>
            </a:pPr>
            <a:r>
              <a:t>Selenium</a:t>
            </a:r>
          </a:p>
          <a:p>
            <a:pPr>
              <a:defRPr sz="1400"/>
            </a:pPr>
            <a:r>
              <a:t>Stem (Tor)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Security:</a:t>
            </a:r>
          </a:p>
          <a:p>
            <a:pPr>
              <a:defRPr sz="1400"/>
            </a:pPr>
            <a:r>
              <a:t>JWT Authentication</a:t>
            </a:r>
          </a:p>
          <a:p>
            <a:pPr>
              <a:defRPr sz="1400"/>
            </a:pPr>
            <a:r>
              <a:t>bcrypt (Password Hashing)</a:t>
            </a:r>
          </a:p>
          <a:p>
            <a:pPr>
              <a:defRPr sz="1400"/>
            </a:pPr>
            <a:r>
              <a:t>OWASP Top 10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Search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4285"/>
            <a:ext cx="8449945" cy="5513705"/>
          </a:xfrm>
        </p:spPr>
        <p:txBody>
          <a:bodyPr wrap="square">
            <a:normAutofit fontScale="70000"/>
          </a:bodyPr>
          <a:lstStyle/>
          <a:p/>
          <a:p>
            <a:pPr marL="0" indent="0">
              <a:spcAft>
                <a:spcPts val="600"/>
              </a:spcAft>
              <a:buNone/>
              <a:defRPr sz="1600"/>
            </a:pPr>
            <a:r>
              <a:rPr sz="4570" b="1"/>
              <a:t>Text Search:</a:t>
            </a:r>
            <a:endParaRPr sz="4570" b="1"/>
          </a:p>
          <a:p>
            <a:pPr>
              <a:spcAft>
                <a:spcPts val="600"/>
              </a:spcAft>
              <a:defRPr sz="1600"/>
            </a:pPr>
            <a:r>
              <a:t>  Full-text search across indexed documents</a:t>
            </a:r>
          </a:p>
          <a:p>
            <a:pPr>
              <a:spcAft>
                <a:spcPts val="600"/>
              </a:spcAft>
              <a:defRPr sz="1600"/>
            </a:pPr>
            <a:r>
              <a:t>  Quickwit search engine integration</a:t>
            </a:r>
          </a:p>
          <a:p>
            <a:pPr>
              <a:spcAft>
                <a:spcPts val="600"/>
              </a:spcAft>
              <a:defRPr sz="1600"/>
            </a:pPr>
            <a:r>
              <a:t>  Sub-2 second response times</a:t>
            </a:r>
          </a:p>
          <a:p>
            <a:pPr>
              <a:spcAft>
                <a:spcPts val="600"/>
              </a:spcAft>
              <a:defRPr sz="1600"/>
            </a:pPr>
            <a:r>
              <a:t>  Relevance scoring and ranking</a:t>
            </a:r>
          </a:p>
          <a:p>
            <a:pPr>
              <a:spcAft>
                <a:spcPts val="600"/>
              </a:spcAft>
              <a:defRPr sz="1600"/>
            </a:pPr>
            <a:r>
              <a:t>  Pagination for large result sets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sz="4000" b="1"/>
              <a:t>Face Recognition Search:</a:t>
            </a:r>
            <a:endParaRPr sz="4000" b="1"/>
          </a:p>
          <a:p>
            <a:pPr>
              <a:spcAft>
                <a:spcPts val="600"/>
              </a:spcAft>
              <a:defRPr sz="1600"/>
            </a:pPr>
            <a:r>
              <a:t>  AI-powered facial recognition</a:t>
            </a:r>
          </a:p>
          <a:p>
            <a:pPr>
              <a:spcAft>
                <a:spcPts val="600"/>
              </a:spcAft>
              <a:defRPr sz="1600"/>
            </a:pPr>
            <a:r>
              <a:t>  ArcFace and UniFace models</a:t>
            </a:r>
          </a:p>
          <a:p>
            <a:pPr>
              <a:spcAft>
                <a:spcPts val="600"/>
              </a:spcAft>
              <a:defRPr sz="1600"/>
            </a:pPr>
            <a:r>
              <a:t>  512-dimensional vector embeddings</a:t>
            </a:r>
          </a:p>
          <a:p>
            <a:pPr>
              <a:spcAft>
                <a:spcPts val="600"/>
              </a:spcAft>
              <a:defRPr sz="1600"/>
            </a:pPr>
            <a:r>
              <a:t>  Similarity search in Milvus</a:t>
            </a:r>
          </a:p>
          <a:p>
            <a:pPr>
              <a:spcAft>
                <a:spcPts val="600"/>
              </a:spcAft>
              <a:defRPr sz="1600"/>
            </a:pPr>
            <a:r>
              <a:t>  Search through millions of indexed images</a:t>
            </a:r>
          </a:p>
          <a:p>
            <a:pPr>
              <a:spcAft>
                <a:spcPts val="600"/>
              </a:spcAft>
              <a:defRPr sz="1600"/>
            </a:pPr>
            <a:r>
              <a:t>  Real-time face detection and matching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" y="1228090"/>
            <a:ext cx="8221980" cy="5629910"/>
          </a:xfrm>
        </p:spPr>
        <p:txBody>
          <a:bodyPr wrap="square">
            <a:normAutofit fontScale="90000" lnSpcReduction="10000"/>
          </a:bodyPr>
          <a:lstStyle/>
          <a:p>
            <a:pPr marL="0" indent="0">
              <a:buNone/>
            </a:pPr>
            <a:r>
              <a:t>PostgreSQL Database with 25+ Tables</a:t>
            </a: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Core Tables: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users, sessions, api_keys</a:t>
            </a:r>
          </a:p>
          <a:p>
            <a:pPr>
              <a:spcAft>
                <a:spcPts val="600"/>
              </a:spcAft>
              <a:defRPr sz="1600"/>
            </a:pPr>
            <a:r>
              <a:t>  search_index, search_index_lines</a:t>
            </a:r>
          </a:p>
          <a:p>
            <a:pPr>
              <a:spcAft>
                <a:spcPts val="600"/>
              </a:spcAft>
              <a:defRPr sz="1600"/>
            </a:pPr>
            <a:r>
              <a:t>  subscription_plans, user_subscriptions</a:t>
            </a:r>
          </a:p>
          <a:p>
            <a:pPr>
              <a:spcAft>
                <a:spcPts val="600"/>
              </a:spcAft>
              <a:defRPr sz="1600"/>
            </a:pPr>
            <a:r>
              <a:t>  security_logs, security_audit_logs</a:t>
            </a:r>
          </a:p>
          <a:p>
            <a:pPr>
              <a:spcAft>
                <a:spcPts val="600"/>
              </a:spcAft>
              <a:defRPr sz="1600"/>
            </a:pPr>
            <a:r>
              <a:t>  monitored_items, monitoring_alerts</a:t>
            </a: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Normalization: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Third Normal Form (3NF) compliance</a:t>
            </a:r>
          </a:p>
          <a:p>
            <a:pPr>
              <a:spcAft>
                <a:spcPts val="600"/>
              </a:spcAft>
              <a:defRPr sz="1600"/>
            </a:pPr>
            <a:r>
              <a:t>  Strategic denormalization for performance</a:t>
            </a:r>
          </a:p>
          <a:p>
            <a:pPr>
              <a:spcAft>
                <a:spcPts val="600"/>
              </a:spcAft>
              <a:defRPr sz="1600"/>
            </a:pPr>
            <a:r>
              <a:t>  100+ indexes for query optimization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Features: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Full-text search with TSVECTOR</a:t>
            </a:r>
          </a:p>
          <a:p>
            <a:pPr>
              <a:spcAft>
                <a:spcPts val="600"/>
              </a:spcAft>
              <a:defRPr sz="1600"/>
            </a:pPr>
            <a:r>
              <a:t>  JSONB for flexible data storage</a:t>
            </a:r>
          </a:p>
          <a:p>
            <a:pPr>
              <a:spcAft>
                <a:spcPts val="600"/>
              </a:spcAft>
              <a:defRPr sz="1600"/>
            </a:pPr>
            <a:r>
              <a:t>  Stored functions and triggers</a:t>
            </a:r>
          </a:p>
          <a:p>
            <a:pPr>
              <a:spcAft>
                <a:spcPts val="600"/>
              </a:spcAft>
              <a:defRPr sz="1600"/>
            </a:pPr>
            <a:r>
              <a:t>  Connection pooling and read replicas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Authentication:</a:t>
            </a:r>
          </a:p>
          <a:p>
            <a:pPr>
              <a:defRPr sz="1400"/>
            </a:pPr>
            <a:r>
              <a:t>JWT access/refresh tokens</a:t>
            </a:r>
          </a:p>
          <a:p>
            <a:pPr>
              <a:defRPr sz="1400"/>
            </a:pPr>
            <a:r>
              <a:t>Two-factor authentication (2FA)</a:t>
            </a:r>
          </a:p>
          <a:p>
            <a:pPr>
              <a:defRPr sz="1400"/>
            </a:pPr>
            <a:r>
              <a:t>bcrypt password hashing (12 rounds)</a:t>
            </a:r>
          </a:p>
          <a:p>
            <a:pPr>
              <a:defRPr sz="1400"/>
            </a:pPr>
            <a:r>
              <a:t>Session management</a:t>
            </a:r>
          </a:p>
          <a:p>
            <a:pPr>
              <a:defRPr sz="1400"/>
            </a:pPr>
            <a:r>
              <a:t>IP lock policies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Authorization:</a:t>
            </a:r>
          </a:p>
          <a:p>
            <a:pPr>
              <a:defRPr sz="1400"/>
            </a:pPr>
            <a:r>
              <a:t>Role-based access control</a:t>
            </a:r>
          </a:p>
          <a:p>
            <a:pPr>
              <a:defRPr sz="1400"/>
            </a:pPr>
            <a:r>
              <a:t>Subscription tier enforcement</a:t>
            </a:r>
          </a:p>
          <a:p>
            <a:pPr>
              <a:defRPr sz="1400"/>
            </a:pPr>
            <a:r>
              <a:t>API key management</a:t>
            </a:r>
          </a:p>
          <a:p>
            <a:pPr>
              <a:defRPr sz="1400"/>
            </a:pPr>
            <a:r>
              <a:t>Quota management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/>
          <a:p>
            <a:pPr>
              <a:defRPr sz="1400"/>
            </a:pPr>
            <a:r>
              <a:t>Security Measures:</a:t>
            </a:r>
          </a:p>
          <a:p>
            <a:pPr>
              <a:defRPr sz="1400"/>
            </a:pPr>
            <a:r>
              <a:t>OWASP Top 10 compliance</a:t>
            </a:r>
          </a:p>
          <a:p>
            <a:pPr>
              <a:defRPr sz="1400"/>
            </a:pPr>
            <a:r>
              <a:t>Input validation &amp; sanitization</a:t>
            </a:r>
          </a:p>
          <a:p>
            <a:pPr>
              <a:defRPr sz="1400"/>
            </a:pPr>
            <a:r>
              <a:t>SQL injection prevention</a:t>
            </a:r>
          </a:p>
          <a:p>
            <a:pPr>
              <a:defRPr sz="1400"/>
            </a:pPr>
            <a:r>
              <a:t>XSS &amp; CSRF protection</a:t>
            </a:r>
          </a:p>
          <a:p>
            <a:pPr>
              <a:defRPr sz="1400"/>
            </a:pPr>
            <a:r>
              <a:t>Rate limiting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Headers &amp; Policies:</a:t>
            </a:r>
          </a:p>
          <a:p>
            <a:pPr>
              <a:defRPr sz="1400"/>
            </a:pPr>
            <a:r>
              <a:t>Content Security Policy (CSP)</a:t>
            </a:r>
          </a:p>
          <a:p>
            <a:pPr>
              <a:defRPr sz="1400"/>
            </a:pPr>
            <a:r>
              <a:t>HSTS enforcement</a:t>
            </a:r>
          </a:p>
          <a:p>
            <a:pPr>
              <a:defRPr sz="1400"/>
            </a:pPr>
            <a:r>
              <a:t>X-Frame-Options</a:t>
            </a:r>
          </a:p>
          <a:p>
            <a:pPr>
              <a:defRPr sz="1400"/>
            </a:pPr>
            <a:r>
              <a:t>Security audit logging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User Roles &amp; Subscription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6665"/>
            <a:ext cx="8381365" cy="5555615"/>
          </a:xfrm>
        </p:spPr>
        <p:txBody>
          <a:bodyPr wrap="square">
            <a:normAutofit fontScale="55000"/>
          </a:bodyPr>
          <a:lstStyle/>
          <a:p>
            <a:pPr marL="0" indent="0">
              <a:buNone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Free Users: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50 searches per month</a:t>
            </a:r>
          </a:p>
          <a:p>
            <a:pPr>
              <a:spcAft>
                <a:spcPts val="600"/>
              </a:spcAft>
              <a:defRPr sz="1600"/>
            </a:pPr>
            <a:r>
              <a:t>  Basic text and face search</a:t>
            </a:r>
          </a:p>
          <a:p>
            <a:pPr>
              <a:spcAft>
                <a:spcPts val="600"/>
              </a:spcAft>
              <a:defRPr sz="1600"/>
            </a:pPr>
            <a:r>
              <a:t>  Blurred previews for restricted content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Starter Users: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500 searches per month</a:t>
            </a:r>
          </a:p>
          <a:p>
            <a:pPr>
              <a:spcAft>
                <a:spcPts val="600"/>
              </a:spcAft>
              <a:defRPr sz="1600"/>
            </a:pPr>
            <a:r>
              <a:t>  Full text search access</a:t>
            </a:r>
          </a:p>
          <a:p>
            <a:pPr>
              <a:spcAft>
                <a:spcPts val="600"/>
              </a:spcAft>
              <a:defRPr sz="1600"/>
            </a:pPr>
            <a:r>
              <a:t>  Surface web data access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Professional Users: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5,000 searches per month</a:t>
            </a:r>
          </a:p>
          <a:p>
            <a:pPr>
              <a:spcAft>
                <a:spcPts val="600"/>
              </a:spcAft>
              <a:defRPr sz="1600"/>
            </a:pPr>
            <a:r>
              <a:t>  All data sources</a:t>
            </a:r>
          </a:p>
          <a:p>
            <a:pPr>
              <a:spcAft>
                <a:spcPts val="600"/>
              </a:spcAft>
              <a:defRPr sz="1600"/>
            </a:pPr>
            <a:r>
              <a:t> </a:t>
            </a:r>
            <a:r>
              <a:rPr lang="en-US"/>
              <a:t> </a:t>
            </a:r>
            <a:r>
              <a:t>API access included</a:t>
            </a:r>
          </a:p>
          <a:p>
            <a:pPr>
              <a:spcAft>
                <a:spcPts val="600"/>
              </a:spcAft>
              <a:defRPr sz="1600"/>
            </a:pPr>
            <a:r>
              <a:t>  Priority support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b="1"/>
              <a:t>Enterprise Users: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Unlimited searches</a:t>
            </a:r>
          </a:p>
          <a:p>
            <a:pPr>
              <a:spcAft>
                <a:spcPts val="600"/>
              </a:spcAft>
              <a:defRPr sz="1600"/>
            </a:pPr>
            <a:r>
              <a:t>  All features enabled</a:t>
            </a:r>
          </a:p>
          <a:p>
            <a:pPr>
              <a:spcAft>
                <a:spcPts val="600"/>
              </a:spcAft>
              <a:defRPr sz="1600"/>
            </a:pPr>
            <a:r>
              <a:t>  Custom integrations</a:t>
            </a:r>
          </a:p>
          <a:p>
            <a:pPr>
              <a:spcAft>
                <a:spcPts val="600"/>
              </a:spcAft>
              <a:defRPr sz="1600"/>
            </a:pPr>
            <a:r>
              <a:t>  Dedicated support &amp; SLA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lang="en-US"/>
              <a:t>Work Break Down Diagram</a:t>
            </a:r>
            <a:endParaRPr lang="en-US"/>
          </a:p>
        </p:txBody>
      </p:sp>
      <p:pic>
        <p:nvPicPr>
          <p:cNvPr id="5" name="Content Placeholder 4" descr="VLVRRkCs47qNe7zWKs3RFgIjTV6-5QjOcuMAfAjQJjC-ClAipPgML8fAOXJxxvqHTR5afY_2C3aSpZcS2_sXrbpfvYZPuqt6Oi5tYX_PDKiA3PBTbce7B5Nbtv1hr_b6x-48h99S5AvJ7qHHSO9BKO0-LS1AfVVb-NygdX_u3Z9zai0KEk75JeBhk8u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2425" y="1303655"/>
            <a:ext cx="8334375" cy="53714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lang="en-US"/>
              <a:t>Sequence Diagram 1</a:t>
            </a:r>
            <a:endParaRPr lang="en-US"/>
          </a:p>
        </p:txBody>
      </p:sp>
      <p:pic>
        <p:nvPicPr>
          <p:cNvPr id="5" name="Content Placeholder 4" descr="Sequence Diagram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8120" y="1127760"/>
            <a:ext cx="8479155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Sequence Diagram 2</a:t>
            </a:r>
            <a:endParaRPr lang="en-US"/>
          </a:p>
        </p:txBody>
      </p:sp>
      <p:pic>
        <p:nvPicPr>
          <p:cNvPr id="4" name="Content Placeholder 3" descr="sequence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4005" y="1191895"/>
            <a:ext cx="8707120" cy="518604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lang="en-US"/>
              <a:t>Use Case Diagram</a:t>
            </a:r>
            <a:endParaRPr lang="en-US"/>
          </a:p>
        </p:txBody>
      </p:sp>
      <p:pic>
        <p:nvPicPr>
          <p:cNvPr id="4" name="Content Placeholder 3" descr="usecase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56715" y="1310640"/>
            <a:ext cx="5641975" cy="532574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rPr lang="en-US"/>
              <a:t>Class Diagram</a:t>
            </a:r>
            <a:endParaRPr lang="en-US"/>
          </a:p>
        </p:txBody>
      </p:sp>
      <p:pic>
        <p:nvPicPr>
          <p:cNvPr id="4" name="Content Placeholder 3" descr="classdiagr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5890" y="1417955"/>
            <a:ext cx="8959850" cy="49415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Key Features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/>
          <a:p>
            <a:pPr>
              <a:defRPr sz="1400"/>
            </a:pPr>
            <a:r>
              <a:t>Intelligence Gathering:</a:t>
            </a:r>
          </a:p>
          <a:p>
            <a:pPr>
              <a:defRPr sz="1400"/>
            </a:pPr>
            <a:r>
              <a:t>Multi-source data collection</a:t>
            </a:r>
          </a:p>
          <a:p>
            <a:pPr>
              <a:defRPr sz="1400"/>
            </a:pPr>
            <a:r>
              <a:t>Automated scraping</a:t>
            </a:r>
          </a:p>
          <a:p>
            <a:pPr>
              <a:defRPr sz="1400"/>
            </a:pPr>
            <a:r>
              <a:t>Real-time monitoring</a:t>
            </a:r>
          </a:p>
          <a:p>
            <a:pPr>
              <a:defRPr sz="1400"/>
            </a:pPr>
            <a:r>
              <a:t>Historical analysis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Search &amp; Analysis:</a:t>
            </a:r>
          </a:p>
          <a:p>
            <a:pPr>
              <a:defRPr sz="1400"/>
            </a:pPr>
            <a:r>
              <a:t>Text search</a:t>
            </a:r>
          </a:p>
          <a:p>
            <a:pPr>
              <a:defRPr sz="1400"/>
            </a:pPr>
            <a:r>
              <a:t>Face recognition</a:t>
            </a:r>
          </a:p>
          <a:p>
            <a:pPr>
              <a:defRPr sz="1400"/>
            </a:pPr>
            <a:r>
              <a:t>Vector similarity</a:t>
            </a:r>
          </a:p>
          <a:p>
            <a:pPr>
              <a:defRPr sz="1400"/>
            </a:pPr>
            <a:r>
              <a:t>Relevance ranking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/>
          <a:p>
            <a:pPr>
              <a:defRPr sz="1400"/>
            </a:pPr>
            <a:r>
              <a:t>Security &amp; Compliance:</a:t>
            </a:r>
          </a:p>
          <a:p>
            <a:pPr>
              <a:defRPr sz="1400"/>
            </a:pPr>
            <a:r>
              <a:t>Authentication &amp; authorization</a:t>
            </a:r>
          </a:p>
          <a:p>
            <a:pPr>
              <a:defRPr sz="1400"/>
            </a:pPr>
            <a:r>
              <a:t>Audit logging</a:t>
            </a:r>
          </a:p>
          <a:p>
            <a:pPr>
              <a:defRPr sz="1400"/>
            </a:pPr>
            <a:r>
              <a:t>Data encryption</a:t>
            </a:r>
          </a:p>
          <a:p>
            <a:pPr>
              <a:defRPr sz="1400"/>
            </a:pPr>
            <a:r>
              <a:t>Security headers</a:t>
            </a:r>
          </a:p>
          <a:p>
            <a:pPr>
              <a:defRPr sz="1400"/>
            </a:pPr>
          </a:p>
          <a:p>
            <a:pPr>
              <a:defRPr sz="1400"/>
            </a:pPr>
            <a:r>
              <a:t>Automation:</a:t>
            </a:r>
          </a:p>
          <a:p>
            <a:pPr>
              <a:defRPr sz="1400"/>
            </a:pPr>
            <a:r>
              <a:t>Auto-indexing</a:t>
            </a:r>
          </a:p>
          <a:p>
            <a:pPr>
              <a:defRPr sz="1400"/>
            </a:pPr>
            <a:r>
              <a:t>File processing</a:t>
            </a:r>
          </a:p>
          <a:p>
            <a:pPr>
              <a:defRPr sz="1400"/>
            </a:pPr>
            <a:r>
              <a:t>Threat alerting</a:t>
            </a:r>
          </a:p>
          <a:p>
            <a:pPr>
              <a:defRPr sz="1400"/>
            </a:pPr>
            <a:r>
              <a:t>Scheduled tasks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5860"/>
            <a:ext cx="8564245" cy="5573395"/>
          </a:xfrm>
        </p:spPr>
        <p:txBody>
          <a:bodyPr wrap="square">
            <a:normAutofit fontScale="80000"/>
          </a:bodyPr>
          <a:lstStyle/>
          <a:p>
            <a:pPr marL="0" indent="0">
              <a:buNone/>
            </a:pPr>
            <a:r>
              <a:rPr b="1"/>
              <a:t>Intel Forge successfully addresses critical challenges in CTI/OSINT:</a:t>
            </a:r>
            <a:endParaRPr b="1"/>
          </a:p>
          <a:p>
            <a:pPr>
              <a:spcAft>
                <a:spcPts val="600"/>
              </a:spcAft>
              <a:defRPr sz="1600"/>
            </a:pPr>
            <a:r>
              <a:t>  Automated multi-source intelligence gathering</a:t>
            </a:r>
          </a:p>
          <a:p>
            <a:pPr>
              <a:spcAft>
                <a:spcPts val="600"/>
              </a:spcAft>
              <a:defRPr sz="1600"/>
            </a:pPr>
            <a:r>
              <a:t>  Scalable search across large datasets</a:t>
            </a:r>
          </a:p>
          <a:p>
            <a:pPr>
              <a:spcAft>
                <a:spcPts val="600"/>
              </a:spcAft>
              <a:defRPr sz="1600"/>
            </a:pPr>
            <a:r>
              <a:t>  Comprehensive threat intelligence capabilities</a:t>
            </a:r>
          </a:p>
          <a:p>
            <a:pPr>
              <a:spcAft>
                <a:spcPts val="600"/>
              </a:spcAft>
              <a:defRPr sz="1600"/>
            </a:pPr>
            <a:r>
              <a:t>  Enterprise-grade security and access control</a:t>
            </a: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rPr sz="4000"/>
              <a:t>Future Enhancements:</a:t>
            </a:r>
            <a:endParaRPr sz="4000"/>
          </a:p>
          <a:p>
            <a:pPr>
              <a:spcAft>
                <a:spcPts val="600"/>
              </a:spcAft>
              <a:defRPr sz="1600"/>
            </a:pPr>
            <a:r>
              <a:t>  Machine learning model training capabilities</a:t>
            </a:r>
          </a:p>
          <a:p>
            <a:pPr>
              <a:spcAft>
                <a:spcPts val="600"/>
              </a:spcAft>
              <a:defRPr sz="1600"/>
            </a:pPr>
            <a:r>
              <a:t>  Video and audio search support</a:t>
            </a:r>
          </a:p>
          <a:p>
            <a:pPr>
              <a:spcAft>
                <a:spcPts val="600"/>
              </a:spcAft>
              <a:defRPr sz="1600"/>
            </a:pPr>
            <a:r>
              <a:t>  Mobile application development</a:t>
            </a:r>
          </a:p>
          <a:p>
            <a:pPr>
              <a:spcAft>
                <a:spcPts val="600"/>
              </a:spcAft>
              <a:defRPr sz="1600"/>
            </a:pPr>
            <a:r>
              <a:t>  Advanced analytics and visualization</a:t>
            </a:r>
          </a:p>
          <a:p>
            <a:pPr>
              <a:spcAft>
                <a:spcPts val="600"/>
              </a:spcAft>
              <a:defRPr sz="1600"/>
            </a:pPr>
            <a:r>
              <a:t>  Integration with external threat feeds</a:t>
            </a:r>
          </a:p>
          <a:p>
            <a:pPr>
              <a:spcAft>
                <a:spcPts val="600"/>
              </a:spcAft>
              <a:defRPr sz="1600"/>
            </a:pPr>
            <a:r>
              <a:t>  Multi-language support</a:t>
            </a:r>
          </a:p>
          <a:p>
            <a:pPr>
              <a:spcAft>
                <a:spcPts val="600"/>
              </a:spcAft>
              <a:defRPr sz="1600"/>
            </a:pP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t>Thank You!</a:t>
            </a:r>
          </a:p>
          <a:p>
            <a:pPr marL="0" indent="0">
              <a:spcAft>
                <a:spcPts val="600"/>
              </a:spcAft>
              <a:buNone/>
              <a:defRPr sz="1600"/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7428</Words>
  <Application>WPS Presentation</Application>
  <PresentationFormat>On-screen Show (4:3)</PresentationFormat>
  <Paragraphs>313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 Light</vt:lpstr>
      <vt:lpstr>Office Theme</vt:lpstr>
      <vt:lpstr>Intel Forge: CTI &amp; OSINT Platform</vt:lpstr>
      <vt:lpstr>Introduction</vt:lpstr>
      <vt:lpstr>Problem Statement</vt:lpstr>
      <vt:lpstr>Project Objectives</vt:lpstr>
      <vt:lpstr>Cyber Threat Intelligence (CTI) Capabilities</vt:lpstr>
      <vt:lpstr>OSINT &amp; Brand Protection Features</vt:lpstr>
      <vt:lpstr>Automated Data Collection Sources</vt:lpstr>
      <vt:lpstr>Automatic Indexing Pipeline</vt:lpstr>
      <vt:lpstr>System Architecture</vt:lpstr>
      <vt:lpstr>Technology Stack</vt:lpstr>
      <vt:lpstr>Search Capabilities</vt:lpstr>
      <vt:lpstr>Database Design</vt:lpstr>
      <vt:lpstr>Security Features</vt:lpstr>
      <vt:lpstr>User Roles &amp; Subscription Tiers</vt:lpstr>
      <vt:lpstr>Software Re-engineering Analysis</vt:lpstr>
      <vt:lpstr>Implementation Highlights</vt:lpstr>
      <vt:lpstr>PowerPoint 演示文稿</vt:lpstr>
      <vt:lpstr>System Design Diagrams</vt:lpstr>
      <vt:lpstr>Project Achievements &amp; Results</vt:lpstr>
      <vt:lpstr>Key Features Summary</vt:lpstr>
      <vt:lpstr>Conclusion &amp; Future 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 Sami</cp:lastModifiedBy>
  <cp:revision>85</cp:revision>
  <dcterms:created xsi:type="dcterms:W3CDTF">2013-01-27T09:14:00Z</dcterms:created>
  <dcterms:modified xsi:type="dcterms:W3CDTF">2026-01-20T07:08:20Z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8FA76BCBFB8C42CBA075DC29F8D605A4_12</vt:lpwstr>
  </property>
  <property fmtid="{D5CDD505-2E9C-101B-9397-08002B2CF9AE}" pid="3" name="KSOProductBuildVer">
    <vt:lpwstr>1033-12.2.0.23196</vt:lpwstr>
  </property>
</Properties>
</file>