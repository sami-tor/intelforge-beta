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256032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Calibri" panose="020F0502020204030204"/>
              </a:defRPr>
            </a:pPr>
            <a:r>
              <a:t>Intel Forge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182880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0">
                <a:solidFill>
                  <a:srgbClr val="3B82F6"/>
                </a:solidFill>
                <a:latin typeface="Calibri" panose="020F0502020204030204"/>
              </a:defRPr>
            </a:pPr>
            <a:r>
              <a:t>CTI &amp; OSINT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Cyber Threat Intelligence  •  Open Source Intelligence  •  AI-Powered Face Recognition  •  Enterprise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Final Year Project  •  Batch 2022-2026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9CA3AF"/>
                </a:solidFill>
                <a:latin typeface="Calibri" panose="020F0502020204030204"/>
              </a:defRPr>
            </a:pPr>
            <a:r>
              <a:t>Supervised by: Dr. </a:t>
            </a:r>
            <a:r>
              <a:rPr lang="en-US"/>
              <a:t>Altaf</a:t>
            </a: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 panose="020F0502020204030204"/>
              </a:defRPr>
            </a:pPr>
            <a:r>
              <a:t>Our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43000"/>
            <a:ext cx="13716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Student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B82F6"/>
                </a:solidFill>
                <a:latin typeface="Calibri" panose="020F0502020204030204"/>
              </a:defRPr>
            </a:pPr>
            <a:r>
              <a:t>Full-Stack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Next.js, Python, 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Student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B82F6"/>
                </a:solidFill>
                <a:latin typeface="Calibri" panose="020F0502020204030204"/>
              </a:defRPr>
            </a:pPr>
            <a:r>
              <a:t>AI/ML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Face Recognition, OCR, YOLO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6948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Student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B82F6"/>
                </a:solidFill>
                <a:latin typeface="Calibri" panose="020F0502020204030204"/>
              </a:defRPr>
            </a:pPr>
            <a:r>
              <a:t>Security &amp; 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Docker, OWASP, CI/CD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828800"/>
            <a:ext cx="246888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1F293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42316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375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Student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6576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3B82F6"/>
                </a:solidFill>
                <a:latin typeface="Calibri" panose="020F0502020204030204"/>
              </a:defRPr>
            </a:pPr>
            <a:r>
              <a:t>Data &amp; Integrations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97764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PostgreSQL, APIs, Scraping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Supervised by: Dr. [Supervisor Name]  |  Department of Computer Science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000" b="1">
                <a:solidFill>
                  <a:srgbClr val="FFFFFF"/>
                </a:solidFill>
                <a:latin typeface="Calibri" panose="020F0502020204030204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 panose="020F050202020403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727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Introduction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019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CTI/OSINT concepts, challenges, and project 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688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871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163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System design, tech stack, AI/ML backend, database schema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015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Platform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7307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Search, intelligence dashboard, face recognition, monitoring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708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 panose="020F0502020204030204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3159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SaaS &amp; Enterprise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6451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Multi-tenant, integrations, white-label, pricing, security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2120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8523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Calibri" panose="020F0502020204030204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30368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Implementation &amp;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559552"/>
            <a:ext cx="8229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Development methodology, statistics, comparison, future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600" b="1">
                <a:solidFill>
                  <a:srgbClr val="DC2626"/>
                </a:solidFill>
                <a:latin typeface="Calibri" panose="020F0502020204030204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 panose="020F0502020204030204"/>
              </a:defRPr>
            </a:pPr>
            <a: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 panose="020F0502020204030204"/>
              </a:defRPr>
            </a:pPr>
            <a:r>
              <a:t>Understanding CTI, OSINT, and the challenges we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What is CTI &amp; OSINT?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Cyber Threat Intelligence &amp; Open Source Intelligence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3035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783080"/>
            <a:ext cx="101600" cy="10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19072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Cyber Threat Intelligence (CTI)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Collection and analysis of information about threats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86584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Dark web monitoring for data breaches &amp; leaked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24328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Threat actor tracking across forums &amp; marketplaces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62072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Real-time alerts for brand mentions on malicious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Historical threat data analysis and trend identification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375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Automated takedown intelligence and incident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554480"/>
            <a:ext cx="53035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783080"/>
            <a:ext cx="101600" cy="10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719072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Open Source Intelligence (OSINT)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4884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Gathering intelligence from publicly available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86584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Surface web scraping — social media, forums, news sites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24328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Telegram channel monitoring for threat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862072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Automated data aggregation from multiple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099816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Metadata extraction and relationship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3375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Legal and ethical intelligence gathering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23360"/>
            <a:ext cx="1069848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60520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alibri" panose="020F0502020204030204"/>
              </a:defRPr>
            </a:pPr>
            <a:r>
              <a:t>Intel Forge bridges CTI and OSINT into a unified platform — enabling organizations to detect, analyze, and respond to threats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Challenges in modern intelligence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080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Data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1051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Massive volumes of unstructured data across surface web, dark web, and messaging platforms make manual investigation impractical.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08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3619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Slow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Traditional intelligence gathering is slow and error-prone — organizations need sub-second search across terabytes of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67712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267712"/>
            <a:ext cx="5080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40864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Brand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15184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Organizations lack visibility into brand misuse, phishing campaigns, and impersonation across multiple channels simultaneously.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67712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267712"/>
            <a:ext cx="508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40864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615184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No unified system provides tiered, role-based access to sensitive intelligence while maintaining security and audit trails.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072384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072384"/>
            <a:ext cx="5080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145536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Face Search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19856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Existing solutions lack AI-powered face recognition search across large-scale image repositories for investigative purposes.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72384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072384"/>
            <a:ext cx="508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145536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Integration Deficit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19856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Intelligence platforms rarely integrate with existing security stacks — SIEMs, MISP, Slack, and custom webhooks.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What Intel Forge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Secure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JWT tokens, 2FA, RBAC, session management, and OWASP-compliant security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72768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Fast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4708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Sub-second full-text search via Quickwit and AI-powered face recognition via ArcFace/Milvus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67712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267712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37744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Automated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65176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Multi-source data ingestion from surface web, Telegram, dark web with automatic indexing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67712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267712"/>
            <a:ext cx="5303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77440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Intelligence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Real-time threat monitoring, brand protection alerts, and comprehensive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072384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072384"/>
            <a:ext cx="530352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18211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Enterprise SaaS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4564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Multi-tenant organizations, white-label branding, reseller platform, and subscription tiers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72384"/>
            <a:ext cx="530352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072384"/>
            <a:ext cx="53035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182112"/>
            <a:ext cx="4937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 panose="020F0502020204030204"/>
              </a:defRPr>
            </a:pPr>
            <a:r>
              <a:t>External Integrations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5643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Webhook dispatch, SIEM export (CEF/LEEF), MISP connector, Slack &amp; Teams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3B82F6"/>
                </a:solidFill>
                <a:latin typeface="Calibri" panose="020F0502020204030204"/>
              </a:defRPr>
            </a:pPr>
            <a:r>
              <a:t>3+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Data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0632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1508760"/>
            <a:ext cx="20116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22C55E"/>
                </a:solidFill>
                <a:latin typeface="Calibri" panose="020F0502020204030204"/>
              </a:defRPr>
            </a:pPr>
            <a:r>
              <a:t>55+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Database 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6904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6904" y="1508760"/>
            <a:ext cx="201168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DC2626"/>
                </a:solidFill>
                <a:latin typeface="Calibri" panose="020F0502020204030204"/>
              </a:defRPr>
            </a:pPr>
            <a:r>
              <a:t>99%+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Face Match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23176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3176" y="150876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F59E0B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AI/ML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1508760"/>
            <a:ext cx="201168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99448" y="1508760"/>
            <a:ext cx="201168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3768" y="201168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A855F7"/>
                </a:solidFill>
                <a:latin typeface="Calibri" panose="020F0502020204030204"/>
              </a:defRPr>
            </a:pPr>
            <a:r>
              <a:t>&lt;2s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5146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Search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004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Face Recognition Search (ArcFace/UniFace)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49300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Full-Text Search Engine (Quickwit)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8561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Vector Similarity Search (Milvus/Faiss)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078224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Automated Multi-Source Scraping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2004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Real-Time Threat Monitoring &amp;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493008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Multi-Tenant Organization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85616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White-Label Branding &amp; Reseller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78224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SIEM, MISP, Slack, Teams Integrations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600" b="1">
                <a:solidFill>
                  <a:srgbClr val="DC2626"/>
                </a:solidFill>
                <a:latin typeface="Calibri" panose="020F0502020204030204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 panose="020F0502020204030204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 panose="020F0502020204030204"/>
              </a:defRPr>
            </a:pPr>
            <a:r>
              <a:t>System design, technology stack, and AI/ML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Hybrid layered architecture with microservices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3500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54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3B82F6"/>
                </a:solidFill>
                <a:latin typeface="Calibri" panose="020F0502020204030204"/>
              </a:defRPr>
            </a:pPr>
            <a:r>
              <a:t>Presentation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4708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Next.js 16 + React 19 + TypeScript + Tailwind CSS + Radix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63500" cy="7132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3774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22C55E"/>
                </a:solidFill>
                <a:latin typeface="Calibri" panose="020F0502020204030204"/>
              </a:defRPr>
            </a:pPr>
            <a:r>
              <a:t>Application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7004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Next.js API Routes + Middleware (Auth, RBAC, Rate Limiting, CSRF)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08960"/>
            <a:ext cx="6350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004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59E0B"/>
                </a:solidFill>
                <a:latin typeface="Calibri" panose="020F0502020204030204"/>
              </a:defRPr>
            </a:pPr>
            <a: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49300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Python FastAPI (Face Recognition) + Go Indexer + Python Scrapers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63500" cy="7132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233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DC2626"/>
                </a:solidFill>
                <a:latin typeface="Calibri" panose="020F0502020204030204"/>
              </a:defRPr>
            </a:pPr>
            <a: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1596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PostgreSQL 16 (Primary DB) + Quickwit (Full-Text) + Milvus (Vector) + MinIO (Objects)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10698480" cy="71323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63500" cy="7132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8463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A855F7"/>
                </a:solidFill>
                <a:latin typeface="Calibri" panose="020F0502020204030204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138928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Docker Compose + Nginx Reverse Proxy + Redis Caching + Horizontal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All services containerized with Docker  •  CI/CD via GitHub Actions  •  Horizontal scaling with load-balanced API instances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Complete technology ecosystem powering Intel Forge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3B82F6"/>
                </a:solidFill>
                <a:latin typeface="Calibri" panose="020F0502020204030204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Next.js 16 (App Router)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React 19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Tailwind CSS + Radix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Recharts + Charts.js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Leaflet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37160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371600"/>
            <a:ext cx="36118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22C55E"/>
                </a:solidFill>
                <a:latin typeface="Calibri" panose="020F0502020204030204"/>
              </a:defRPr>
            </a:pPr>
            <a:r>
              <a:t>Backend &amp;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8745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Next.js API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1031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Python FastAPI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3317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Go High-Performance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5603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JWT + 2FA 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889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RBAC + API Key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37160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371600"/>
            <a:ext cx="361188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DC2626"/>
                </a:solidFill>
                <a:latin typeface="Calibri" panose="020F0502020204030204"/>
              </a:defRPr>
            </a:pPr>
            <a:r>
              <a:t>AI &amp;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8745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ArcFace / UniFace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1031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SigLIP + DINOv2 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3317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YOLOv8 Object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5603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MTCNN Face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889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Tesseract + EasyOCR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79476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794760"/>
            <a:ext cx="36118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59E0B"/>
                </a:solidFill>
                <a:latin typeface="Calibri" panose="020F0502020204030204"/>
              </a:defRPr>
            </a:pPr>
            <a:r>
              <a:t>Data &amp;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2976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PostgreSQL 16 (55+ Tables)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5262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Quickwit Full-Text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7548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Milvus Vector 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9834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MinIO Object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2120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Redis Session Cache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79476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794760"/>
            <a:ext cx="361188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A855F7"/>
                </a:solidFill>
                <a:latin typeface="Calibri" panose="020F0502020204030204"/>
              </a:defRPr>
            </a:pPr>
            <a:r>
              <a:t>DevOps &amp;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2976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Docker + 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45262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Nginx Reverse Proxy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7548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GitHub Actions CI/CD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49834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OWASP Top 10 Compliance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52120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Security Audit Logging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794760"/>
            <a:ext cx="361188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379476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3931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3B82F6"/>
                </a:solidFill>
                <a:latin typeface="Calibri" panose="020F0502020204030204"/>
              </a:defRPr>
            </a:pPr>
            <a:r>
              <a:t>Data Collection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2976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Telethon (Telegram API)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5262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BeautifulSoup + Selenium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7548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Stem (Tor Network)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9834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Threads GraphQL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21208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RSS/Atom Feed Parser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AI/ML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Face recognition and intelligent indexing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3B82F6"/>
                </a:solidFill>
                <a:latin typeface="Calibri" panose="020F0502020204030204"/>
              </a:defRPr>
            </a:pPr>
            <a:r>
              <a:t>Face Recognition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1. Face Detection — YOLOv8 / MTCNN localizes faces in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942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2. Alignment — Affine transformation for pose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8716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3. Embedding — ArcFace (ResNet-100) generates 512-d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2491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4. Indexing — FAISS IVF-PQ for fast approximate nearest neighbor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6265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5. Storage — Milvus manages vector index at scale (millions of embeddings)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6. Retrieval — Cosine similarity ranking with threshold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3814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7. Clustering — DBSCAN groups similar faces for identity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002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22C55E"/>
                </a:solidFill>
                <a:latin typeface="Calibri" panose="020F0502020204030204"/>
              </a:defRPr>
            </a:pPr>
            <a:r>
              <a:t>AI Models &amp;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ArcFace (ResNet-100): 99.5%+ on LFW — primary face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4942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UniFace (ResNet-101): 99.8%+ — cross-domain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8716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SigLIP: Zero-shot image-text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2491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DINOv2: Self-supervised visual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6265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YOLOv8: Real-time object &amp; face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004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Tesseract + EasyOCR: Multi-language OCR for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3814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MTCNN: Lightweight face detection &amp; landmarking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77639"/>
            <a:ext cx="1069848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069080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Python FastAPI serves all AI models with GPU acceleration (CUDA)  •  Batch processing support  •  Model versioning with hot-swap capability  •  Embedding caching for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PostgreSQL 16 with comprehensive schema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26060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3B82F6"/>
                </a:solidFill>
                <a:latin typeface="Calibri" panose="020F0502020204030204"/>
              </a:defRPr>
            </a:pPr>
            <a:r>
              <a:t>55+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Database Tables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417320"/>
            <a:ext cx="26060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22C55E"/>
                </a:solidFill>
                <a:latin typeface="Calibri" panose="020F0502020204030204"/>
              </a:defRPr>
            </a:pPr>
            <a: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Indexes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417320"/>
            <a:ext cx="26060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F59E0B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DB Schemas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17320"/>
            <a:ext cx="260604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26060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920240"/>
            <a:ext cx="2057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DC2626"/>
                </a:solidFill>
                <a:latin typeface="Calibri" panose="020F0502020204030204"/>
              </a:defRPr>
            </a:pPr>
            <a:r>
              <a:t>3NF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423160"/>
            <a:ext cx="2057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Normalization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880360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2880360"/>
            <a:ext cx="50800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295351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Core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91256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users, sessions, api_keys, subscription_plans, user_subscriptions, quotas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593592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593592"/>
            <a:ext cx="50800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666744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Intel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904488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search_index, search_index_lines, monitored_items, monitoring_alerts, threat_intel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06824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306824"/>
            <a:ext cx="50800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379976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59E0B"/>
                </a:solidFill>
                <a:latin typeface="Calibri" panose="020F0502020204030204"/>
              </a:defRPr>
            </a:pPr>
            <a:r>
              <a:t>SaaS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617720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organizations, org_members, org_invites, tenant_branding, reseller_clients, webhooks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020056"/>
            <a:ext cx="5303520" cy="62179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020056"/>
            <a:ext cx="5080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09320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DC2626"/>
                </a:solidFill>
                <a:latin typeface="Calibri" panose="020F0502020204030204"/>
              </a:defRPr>
            </a:pPr>
            <a:r>
              <a:t>Security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30952"/>
            <a:ext cx="4754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security_logs, security_audit_logs, csrf_tokens, rate_limits, ip_locks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2880360"/>
            <a:ext cx="5303520" cy="2423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017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3B82F6"/>
                </a:solidFill>
                <a:latin typeface="Calibri" panose="020F0502020204030204"/>
              </a:defRPr>
            </a:pPr>
            <a:r>
              <a:t>Key Database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34290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Full-text search with TSVECTOR and GIN indexes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66674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JSONB columns for flexible schema-less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90448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Stored procedures &amp; triggers for data integrity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14223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Row-Level Security (RLS) for multi-tenant isolation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37997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Connection pooling (PgBouncer) for scalability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61772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Point-in-time recovery with WAL archiving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85546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Automated migrations with version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09320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Prepared statements to prevent SQL injection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600" b="1">
                <a:solidFill>
                  <a:srgbClr val="DC2626"/>
                </a:solidFill>
                <a:latin typeface="Calibri" panose="020F0502020204030204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 panose="020F0502020204030204"/>
              </a:defRPr>
            </a:pPr>
            <a:r>
              <a:t>Platform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 panose="020F0502020204030204"/>
              </a:defRPr>
            </a:pPr>
            <a:r>
              <a:t>Search, intelligence dashboard, face recognition, and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Intelligence Dashboard &amp; Search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Real-time threat visibility and powerful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3B82F6"/>
                </a:solidFill>
                <a:latin typeface="Calibri" panose="020F0502020204030204"/>
              </a:defRPr>
            </a:pPr>
            <a:r>
              <a:t>Search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Text Search — Full-text search across indexed documents with Quickwit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1284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Face Search — AI-powered facial recognition across millions of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973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Sub-2 second response times with relevance scoring &amp;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0662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Advanced filters: date range, source type, file type, threat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Bulk search &amp; export — CSV, JSON, PDF report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Search history with saved queries and alert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30352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22C55E"/>
                </a:solidFill>
                <a:latin typeface="Calibri" panose="020F0502020204030204"/>
              </a:defRPr>
            </a:pPr>
            <a:r>
              <a:t>Intelligence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Real-time threat feed with severity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1284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Interactive charts — threat trends, source distribution, alert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45973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Brand protection monitoring — mentions, impersonation, phishing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0662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Geolocation mapping of threats and data 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5351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Customizable widgets with drag-and-drop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20040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Exportable reports with executive summary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794760"/>
            <a:ext cx="1069848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91363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 panose="020F0502020204030204"/>
              </a:defRPr>
            </a:pPr>
            <a:r>
              <a:t>Automated Monitoring &amp; Alerting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9768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Dark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297680"/>
            <a:ext cx="8229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Onion site crawling for brand mentions, leaked credentials, and IP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5371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Telegram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553712"/>
            <a:ext cx="8229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Real-time channel monitoring for data breaches and threat actor communications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09744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Surface Web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809744"/>
            <a:ext cx="8229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Social media, forums, and marketplace monitoring for brand impersonation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65776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Alert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065776"/>
            <a:ext cx="8229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Configurable thresholds, keyword matching, and regex-based detection rules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Face Search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AI-powered facial recognition search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6858000" cy="37490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858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DC2626"/>
                </a:solidFill>
                <a:latin typeface="Calibri" panose="020F0502020204030204"/>
              </a:defRPr>
            </a:pPr>
            <a:r>
              <a:t>Face Recognition Search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96596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User uploads a query image containing a face via the dashboard or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49424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4942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YOLOv8 detects all faces in the image; MTCNN extracts 5-point landmarks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32888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53288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Affine transformation normalizes face pose, scale, and rotation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16352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Embedding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1635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ArcFace (ResNet-100) converts the aligned face into a 512-dimensional vector 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099816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09981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FAISS IVF-PQ index performs approximate nearest neighbor search across millions of stored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383280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8328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Cosine similarity scores are computed; results ranked and filtered by configurable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66744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66674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Top-K matches returned with similarity scores, source metadata, and thumbnail previews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50208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DC2626"/>
                </a:solidFill>
                <a:latin typeface="Calibri" panose="020F0502020204030204"/>
              </a:defRPr>
            </a:pPr>
            <a:r>
              <a:t>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95020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DBSCAN groups similar faces across results for identity deduplication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463040"/>
            <a:ext cx="3566160" cy="3749039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2C55E"/>
                </a:solidFill>
                <a:latin typeface="Calibri" panose="020F0502020204030204"/>
              </a:defRPr>
            </a:pPr>
            <a:r>
              <a:t>Performance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03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 panose="020F0502020204030204"/>
              </a:defRPr>
            </a:pPr>
            <a:r>
              <a:t>99.5%+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13055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Accuracy (LFW)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560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 panose="020F0502020204030204"/>
              </a:defRPr>
            </a:pPr>
            <a:r>
              <a:t>&lt; 200ms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58775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Face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0175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 panose="020F0502020204030204"/>
              </a:defRPr>
            </a:pPr>
            <a:r>
              <a:t>&lt; 50ms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04495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Embedding 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4747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 panose="020F0502020204030204"/>
              </a:defRPr>
            </a:pPr>
            <a:r>
              <a:t>&lt; 500ms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50215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Vector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9319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 panose="020F0502020204030204"/>
              </a:defRPr>
            </a:pPr>
            <a:r>
              <a:t>&lt; 2s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95935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End-to-End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389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1">
                <a:solidFill>
                  <a:srgbClr val="22C55E"/>
                </a:solidFill>
                <a:latin typeface="Calibri" panose="020F0502020204030204"/>
              </a:defRPr>
            </a:pPr>
            <a:r>
              <a:t>1M+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41655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Embeddings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6177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Models: ArcFace (ResNet-100), UniFace (ResNet-101), SigLIP, DINOv2</a:t>
            </a:r>
            <a:br/>
            <a:r>
              <a:t>GPU: NVIDIA CUDA with batch inference</a:t>
            </a:r>
            <a:br/>
            <a:r>
              <a:t>Index: FAISS IVF-PQ + Milvus distributed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Automated Data Collection &amp;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Multi-source ingestion with intelligent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52044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5204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Surface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Public websites &amp; forums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03704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Threads GraphQL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4144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RSS/Atom feed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79192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Social media platforms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463040"/>
            <a:ext cx="352044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1463040"/>
            <a:ext cx="35204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2C55E"/>
                </a:solidFill>
                <a:latin typeface="Calibri" panose="020F0502020204030204"/>
              </a:defRPr>
            </a:pPr>
            <a:r>
              <a:t>Telegram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96596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Real-time message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203704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Media &amp; file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44144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MTProxy privacy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679192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Channel &amp; group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1463040"/>
            <a:ext cx="3520440" cy="1920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8" y="1463040"/>
            <a:ext cx="35204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157276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 panose="020F0502020204030204"/>
              </a:defRPr>
            </a:pPr>
            <a:r>
              <a:t>Dark 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196596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Tor network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2203704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Onion forum crawling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2441448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Marketplace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2679192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Privacy-preserving scraping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11880"/>
            <a:ext cx="10698480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730752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 panose="020F0502020204030204"/>
              </a:defRPr>
            </a:pPr>
            <a:r>
              <a:t>Automatic Indexing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09651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File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09651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File system watcher monitors /data directory for new files from scrapers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37083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Archive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37083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Auto-extract ZIP, RAR, 7Z archives; recursive directory traversal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64515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Document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64515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PDF, DOCX, XLSX text extraction; image OCR via Tesseract &amp; EasyOCR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09651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Text Indexing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09651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Batch indexing to Quickwit (1000 lines/batch); MD5 deduplication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37083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Face Indexing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37083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Face detection → embedding generation → Milvus vector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64515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F59E0B"/>
                </a:solidFill>
                <a:latin typeface="Calibri" panose="020F0502020204030204"/>
              </a:defRPr>
            </a:pPr>
            <a:r>
              <a:t>Metadata Store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645152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File metadata, source info, timestamps stored in PostgreSQL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600" b="1">
                <a:solidFill>
                  <a:srgbClr val="DC2626"/>
                </a:solidFill>
                <a:latin typeface="Calibri" panose="020F0502020204030204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 panose="020F0502020204030204"/>
              </a:defRPr>
            </a:pPr>
            <a:r>
              <a:t>SaaS &amp; Enterprise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 panose="020F0502020204030204"/>
              </a:defRPr>
            </a:pPr>
            <a:r>
              <a:t>Multi-tenant architecture, integrations, white-label, and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Multi-Tenant Organizations &amp;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Isolated workspaces with full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3B82F6"/>
                </a:solidFill>
                <a:latin typeface="Calibri" panose="020F0502020204030204"/>
              </a:defRPr>
            </a:pPr>
            <a:r>
              <a:t>Organization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Create and manage multiple organizations per user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0827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Role-based access control: Owner, Admin, Member,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059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Member invitation system with email-based invites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9290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Organization switching from navbar dropdown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3522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Per-organization API keys and quota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7754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Isolated search indexes and intelligence data per 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1985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Audit logging of all member actions within organization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30352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3035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72768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22C55E"/>
                </a:solidFill>
                <a:latin typeface="Calibri" panose="020F0502020204030204"/>
              </a:defRPr>
            </a:pPr>
            <a:r>
              <a:t>White-Label &amp; Reseller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6596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Custom branding: logo, colors, company name, favicon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0827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Custom domain support with automatic SSL/TLS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50592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CSS variable generation for instant theme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9290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Domain verification and DNS configuration assistance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35224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Reseller dashboard with client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77540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Commission tracking — MRR, earnings, client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419856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Branded login pages and email templates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23360"/>
            <a:ext cx="1069848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11480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D1D5DB"/>
                </a:solidFill>
                <a:latin typeface="Calibri" panose="020F0502020204030204"/>
              </a:defRPr>
            </a:pPr>
            <a:r>
              <a:t>Complete B2B SaaS platform with tiered subscriptions (Free → Starter → Professional → Enterprise), automated billing, and usage-based quotas.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External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Connecting Intel Forge with your security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3492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Webhooks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14 typed event types for real-time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9854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HMAC-SHA256 signature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2257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Retry with exponential backoff (3 attempts)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4660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Webhook log viewer with delivery status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7063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Test fire capability for debugging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53492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 panose="020F0502020204030204"/>
              </a:defRPr>
            </a:pPr>
            <a:r>
              <a:t>SIEM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CEF (Common Event Format) for ArcSight, Splunk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9854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LEEF (Log Event Extended Format) for QRadar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32257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Configurable syslog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4660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Real-time event 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7063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Custom field mapping per SIEM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657600"/>
            <a:ext cx="53492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 panose="020F0502020204030204"/>
              </a:defRPr>
            </a:pPr>
            <a:r>
              <a:t>MISP Connector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148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Bi-directional threat intelligence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3882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Push IOCs to MISP instances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56285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Pull threat feeds from MISP communities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78688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STIX 2.0/2.1 format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1091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Automated correlation rule import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65760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657600"/>
            <a:ext cx="5349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749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2C55E"/>
                </a:solidFill>
                <a:latin typeface="Calibri" panose="020F0502020204030204"/>
              </a:defRPr>
            </a:pPr>
            <a: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1148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Slack — Block Kit formatted messages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33882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Microsoft Teams — Adaptive Cards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56285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Email alerts with HTML templates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78688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Configurable per-event notification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01091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Digest mode — hourly/daily summaries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Subscription Tiers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Flexible plans for individuals to enterprises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43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22C55E"/>
                </a:solidFill>
                <a:latin typeface="Calibri" panose="020F0502020204030204"/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50 searches/mo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69748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803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Basic text &amp; face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089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Blurred restricted previews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Community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41732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Starter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3B82F6"/>
                </a:solidFill>
                <a:latin typeface="Calibri" panose="020F0502020204030204"/>
              </a:defRPr>
            </a:pPr>
            <a:r>
              <a:t>$29/mo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3774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500 searches/mo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69748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8803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Full text search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1089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Surface web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3375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Email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5661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1 organization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141732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Professional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F59E0B"/>
                </a:solidFill>
                <a:latin typeface="Calibri" panose="020F0502020204030204"/>
              </a:defRPr>
            </a:pPr>
            <a:r>
              <a:t>$99/mo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3774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5,000 searches/mo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69748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8803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All data 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1089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API access included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375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Priority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5661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5 organizations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7947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Basic integrations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417320"/>
            <a:ext cx="2743200" cy="4206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2560" y="1417320"/>
            <a:ext cx="274320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155448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t>Enterprise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196596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2800" b="1">
                <a:solidFill>
                  <a:srgbClr val="DC2626"/>
                </a:solidFill>
                <a:latin typeface="Calibri" panose="020F0502020204030204"/>
              </a:defRPr>
            </a:pPr>
            <a:r>
              <a:t>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3774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Unlimited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697480"/>
            <a:ext cx="1828800" cy="12700"/>
          </a:xfrm>
          <a:prstGeom prst="rect">
            <a:avLst/>
          </a:prstGeom>
          <a:solidFill>
            <a:srgbClr val="30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8803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All features enabled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Custom integrations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3375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Dedicated support &amp; SLA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5661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Unlimited 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7947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White-label branding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0233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Reseller access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Enterprise-grade security with defense-in-depth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3492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DC2626"/>
                </a:solidFill>
                <a:latin typeface="Calibri" panose="020F0502020204030204"/>
              </a:defRPr>
            </a:pPr>
            <a:r>
              <a:t>Authentication &amp;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JWT access + refresh token 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7568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Two-factor authentication (TOTP)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bcrypt password hashing (12 rounds)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Role-based access control (4 roles)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3405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API key management with scoped 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5351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Session management with IP binding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417320"/>
            <a:ext cx="53492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Network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85623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HTTPS/TLS 1.3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7568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Rate limiting (token bucket algorithm)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9514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CSRF protection with double-submit cookies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Content Security Policy (CSP) headers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73405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HSTS with preload and includeSubDomains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5351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X-Frame-Options, X-Content-Type-Options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65760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657600"/>
            <a:ext cx="5349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749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Data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09651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Input validation &amp; sanitization (all endpoints)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31596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Parameterized queries — SQL injection prevention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53542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Output encoding — XSS prevention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75488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Row-Level Security for multi-tenant 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97433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Encryption at rest for sensitive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9379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Prepared statements throughout data layer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657600"/>
            <a:ext cx="534924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657600"/>
            <a:ext cx="53492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74904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59E0B"/>
                </a:solidFill>
                <a:latin typeface="Calibri" panose="020F0502020204030204"/>
              </a:defRPr>
            </a:pPr>
            <a:r>
              <a:t>Monitoring &amp;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09651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Comprehensive audit logging (all user actions)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315968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Security event monitoring &amp; alerting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535424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OWASP Top 10 compliance verified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754880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Automated vulnerability scanning (ZAP)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974336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Penetration testing conducted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193792"/>
            <a:ext cx="4846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• GDPR-ready data handling practices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600" b="1">
                <a:solidFill>
                  <a:srgbClr val="DC2626"/>
                </a:solidFill>
                <a:latin typeface="Calibri" panose="020F0502020204030204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4200" b="1">
                <a:solidFill>
                  <a:srgbClr val="FFFFFF"/>
                </a:solidFill>
                <a:latin typeface="Calibri" panose="020F0502020204030204"/>
              </a:defRPr>
            </a:pPr>
            <a:r>
              <a:t>Implementation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9CA3AF"/>
                </a:solidFill>
                <a:latin typeface="Calibri" panose="020F0502020204030204"/>
              </a:defRPr>
            </a:pPr>
            <a:r>
              <a:t>Development methodology, statistics, and 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06240"/>
            <a:ext cx="27432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Hybrid Agile/Iterative approach over 20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64008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6400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3B82F6"/>
                </a:solidFill>
                <a:latin typeface="Calibri" panose="020F0502020204030204"/>
              </a:defRPr>
            </a:pPr>
            <a:r>
              <a:t>Development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5852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Hybrid Agile/Iterative with Waterfall planning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12848"/>
            <a:ext cx="5852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20-week project timeline with 2-week sprint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59736"/>
            <a:ext cx="5852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Version control: Git with feature branch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06624"/>
            <a:ext cx="5852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Code review process with PR templates and checklists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5852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CI/CD pipeline: GitHub Actions for linting, testing,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5852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▸ Docker-based development environment for consistency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402336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463040"/>
            <a:ext cx="402336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572768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700" b="1">
                <a:solidFill>
                  <a:srgbClr val="22C55E"/>
                </a:solidFill>
                <a:latin typeface="Calibri" panose="020F0502020204030204"/>
              </a:defRPr>
            </a:pPr>
            <a:r>
              <a:t>Testing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65960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Unit tests: Jest (Frontend), pytest (Python)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212848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Integration tests: API endpoint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459736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E2E tests: Playwright for critical user 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706624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Security: OWASP ZAP automated scanning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953512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Performance: k6 load testing (1000+ RPS)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200400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▸ Penetration testing: manual + automated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749039"/>
            <a:ext cx="106984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858768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 panose="020F0502020204030204"/>
              </a:defRPr>
            </a:pPr>
            <a:r>
              <a:t>Documentation &amp; Design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24528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SRS 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224528"/>
            <a:ext cx="8046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Complete Software Requirements Specification with functional &amp; non-functional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480560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Design Document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480560"/>
            <a:ext cx="8046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System architecture, 18 UML diagrams, database schema, API specifications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736592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Test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736592"/>
            <a:ext cx="8046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Test cases, test matrices, validation procedures, and acceptance criteria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992624"/>
            <a:ext cx="1828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59E0B"/>
                </a:solidFill>
                <a:latin typeface="Calibri" panose="020F0502020204030204"/>
              </a:defRPr>
            </a:pPr>
            <a:r>
              <a:t>User 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992624"/>
            <a:ext cx="8046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Installation guide, user documentation, API reference, and administrator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API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RESTful API design with comprehensive endpoint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2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7568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/api/auth/register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7685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/api/auth/2fa/verify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78024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/api/auth/refresh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79192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/api/auth/logout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41732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41732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7452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/api/search/text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07568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/api/search/face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27685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/api/search/history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478024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/api/search/:id/results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41732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1732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508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Organizations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87452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/api/organizations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07568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/api/organizations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27685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/api/organizations/:id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478024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/api/organizations/:id/members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679192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/api/organizations/switch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74904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74904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20624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/api/integrations/webhooks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40740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/api/integrations/webhooks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0857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PATCH /api/integrations/webhooks/:id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809744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/api/integrations/siem/export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010912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/api/integrations/misp/sync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74904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374904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Reseller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20624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/api/reseller/dashboard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40740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/api/reseller/clients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460857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PATCH /api/reseller/clients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809744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/api/admin/resellers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3749040"/>
            <a:ext cx="3611880" cy="21031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3749040"/>
            <a:ext cx="36118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38404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3B82F6"/>
                </a:solidFill>
                <a:latin typeface="Calibri" panose="020F0502020204030204"/>
              </a:defRPr>
            </a:pPr>
            <a:r>
              <a:t>White-Label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206240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GET /api/tenant/branding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40740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PUT /api/tenant/branding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60857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D1D5DB"/>
                </a:solidFill>
                <a:latin typeface="Consolas" panose="020B0609020204030204"/>
              </a:defRPr>
            </a:pPr>
            <a:r>
              <a:t>POST /api/tenant/domain/verify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System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18 comprehensive UML diagrams documenting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492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3B82F6"/>
                </a:solidFill>
                <a:latin typeface="Calibri" panose="020F0502020204030204"/>
              </a:defRPr>
            </a:pPr>
            <a:r>
              <a:t>Functional Modeling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Use Case Diagram — 34 use cases across 5 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7627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Activity Diagrams — Face Search flow, Automation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32304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Sequence Diagrams — Search operation, Data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88336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Collaboration Diagram — Component 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534924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22C55E"/>
                </a:solidFill>
                <a:latin typeface="Calibri" panose="020F0502020204030204"/>
              </a:defRPr>
            </a:pPr>
            <a:r>
              <a:t>Structural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2024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Class Diagram — Full object-oriented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7627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Entity-Relationship Diagram — 55+ tables 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432304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Software Architecture Diagram — Layered MVC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88336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Network Architecture Diagram — Deployment topology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0332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03320"/>
            <a:ext cx="534924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94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F59E0B"/>
                </a:solidFill>
                <a:latin typeface="Calibri" panose="020F0502020204030204"/>
              </a:defRPr>
            </a:pPr>
            <a:r>
              <a:t>Data Flow 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605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Data Flow Diagram Level 0 — Context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1655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Data Flow Diagram Level 1 — Major processes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72584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Data Flow Diagram Level 2 — Process decomposition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28616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State Diagram — System state transitions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03320"/>
            <a:ext cx="5349240" cy="1965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03320"/>
            <a:ext cx="534924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947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600" b="1">
                <a:solidFill>
                  <a:srgbClr val="DC2626"/>
                </a:solidFill>
                <a:latin typeface="Calibri" panose="020F0502020204030204"/>
              </a:defRPr>
            </a:pPr>
            <a:r>
              <a:t>Project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160520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Work Breakdown Structure (WBS) — Task hierarchy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41655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Gantt Chart — 20-week project timeline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672584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Risk Matrix — Probability vs Impact 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28616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D1D5DB"/>
                </a:solidFill>
                <a:latin typeface="Calibri" panose="020F0502020204030204"/>
              </a:defRPr>
            </a:pPr>
            <a:r>
              <a:t>• Resource Allocation — Team member assignments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Platform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3B82F6"/>
                </a:solidFill>
                <a:latin typeface="Calibri" panose="020F0502020204030204"/>
              </a:defRPr>
            </a:pPr>
            <a:r>
              <a:t>55+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Database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6 schemas with 3NF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743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22C55E"/>
                </a:solidFill>
                <a:latin typeface="Calibri" panose="020F0502020204030204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Webhook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Typed event system with HMAC signing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274320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DC2626"/>
                </a:solidFill>
                <a:latin typeface="Calibri" panose="020F0502020204030204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AI/ML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ArcFace, UniFace, SigLIP, DINOv2, YOLOv8, MTCNN, OCR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417320"/>
            <a:ext cx="274320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417320"/>
            <a:ext cx="2743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55448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3600" b="1">
                <a:solidFill>
                  <a:srgbClr val="F59E0B"/>
                </a:solidFill>
                <a:latin typeface="Calibri" panose="020F0502020204030204"/>
              </a:defRPr>
            </a:pPr>
            <a: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031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UML Diagrams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37744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950" b="0">
                <a:solidFill>
                  <a:srgbClr val="9CA3AF"/>
                </a:solidFill>
                <a:latin typeface="Calibri" panose="020F0502020204030204"/>
              </a:defRPr>
            </a:pPr>
            <a:r>
              <a:t>Use case, sequence, class, DFD, ERD,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20040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3B82F6"/>
                </a:solidFill>
                <a:latin typeface="Calibri" panose="020F0502020204030204"/>
              </a:defRPr>
            </a:pPr>
            <a:r>
              <a:t>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Data Sources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88920" y="3200400"/>
            <a:ext cx="21031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22C55E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Subscription Tiers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4920" y="3200400"/>
            <a:ext cx="21031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F59E0B"/>
                </a:solidFill>
                <a:latin typeface="Calibri" panose="020F0502020204030204"/>
              </a:defRPr>
            </a:pPr>
            <a:r>
              <a:t>100+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DB Indexes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60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3200400"/>
            <a:ext cx="210312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DC2626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Integration Types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46920" y="3200400"/>
            <a:ext cx="21031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46920" y="3200400"/>
            <a:ext cx="210312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370332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A855F7"/>
                </a:solidFill>
                <a:latin typeface="Calibri" panose="020F0502020204030204"/>
              </a:defRPr>
            </a:pPr>
            <a:r>
              <a:t>&lt;2s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4206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Search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663440"/>
            <a:ext cx="1069848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4773168"/>
            <a:ext cx="10241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Tech Stack: Next.js 16 + React 19 + TypeScript + Python FastAPI + Go + PostgreSQL 16 + Quickwit + Milvus + MinIO + Docker  |  100+ API Endpoints  |  Zero TypeScript Errors  |  Production Build Verified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Comparison with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How Intel Forge compares to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08760"/>
            <a:ext cx="1143000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727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Intel Forge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MISP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SpiderFoot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Maltego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57276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 panose="020F0502020204030204"/>
              </a:defRPr>
            </a:pPr>
            <a:r>
              <a:t>Shodan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947672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7510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Face Recognition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75104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AI-Powered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7510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2276856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0428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Multi-Source Scraping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304288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3+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30428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606040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3347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Dark Web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63347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Automated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63347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2935224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96265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SaaS Multi-Tenant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2962656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Full RBAC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96265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3264408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29184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White-Label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32918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Complete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32918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3593592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621024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SIEM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3621024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CEF + LEEF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621024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3922776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3950208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Threat Intelligence Sharing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3950208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MISP + STIX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MISP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3950208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4251960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279392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Webhook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4279392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14 Events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4279392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4581144"/>
            <a:ext cx="11430000" cy="30175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4608576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Reseller Platform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0" y="4608576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Built-in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0" y="4608576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5760" y="4910328"/>
            <a:ext cx="11430000" cy="301752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937760"/>
            <a:ext cx="21031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API Access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9377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22C55E"/>
                </a:solidFill>
                <a:latin typeface="Calibri" panose="020F0502020204030204"/>
              </a:defRPr>
            </a:pPr>
            <a:r>
              <a:t>✓ RESTful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48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REST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9CA3AF"/>
                </a:solidFill>
                <a:latin typeface="Calibri" panose="020F0502020204030204"/>
              </a:defRPr>
            </a:pPr>
            <a:r>
              <a:t>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0" y="4937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D1D5DB"/>
                </a:solidFill>
                <a:latin typeface="Calibri" panose="020F0502020204030204"/>
              </a:defRPr>
            </a:pPr>
            <a:r>
              <a:t>✓ API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" y="5120640"/>
            <a:ext cx="10698480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" y="5193792"/>
            <a:ext cx="10241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D1D5DB"/>
                </a:solidFill>
                <a:latin typeface="Calibri" panose="020F0502020204030204"/>
              </a:defRPr>
            </a:pPr>
            <a:r>
              <a:t>Intel Forge is the only platform that combines CTI, OSINT, AI face recognition, multi-tenant SaaS, white-label, and reseller capabilities in a single unified system.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Planned enhancements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080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3B82F6"/>
                </a:solidFill>
                <a:latin typeface="Calibri" panose="020F0502020204030204"/>
              </a:defRPr>
            </a:pPr>
            <a:r>
              <a:t>ML 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745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Custom model training pipeline for domain-specific face recognition and threat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22C55E"/>
                </a:solidFill>
                <a:latin typeface="Calibri" panose="020F0502020204030204"/>
              </a:defRPr>
            </a:pPr>
            <a:r>
              <a:t>Video &amp; Audio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Extend search capabilities to video frames and audio transcription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08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59E0B"/>
                </a:solidFill>
                <a:latin typeface="Calibri" panose="020F0502020204030204"/>
              </a:defRPr>
            </a:pPr>
            <a:r>
              <a:t>Mobile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632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React Native mobile app for on-the-go intelligence access and alert notifications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06040"/>
            <a:ext cx="508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DC2626"/>
                </a:solidFill>
                <a:latin typeface="Calibri" panose="020F0502020204030204"/>
              </a:defRPr>
            </a:pPr>
            <a:r>
              <a:t>Advanced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632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AI-driven threat prediction, anomaly detection, and automated risk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794760"/>
            <a:ext cx="5080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3B82F6"/>
                </a:solidFill>
                <a:latin typeface="Calibri" panose="020F0502020204030204"/>
              </a:defRPr>
            </a:pPr>
            <a:r>
              <a:t>External Threat Feeds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519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Integration with AlienVault OTX, VirusTotal, and commercial threat intelligence providers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9476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22C55E"/>
                </a:solidFill>
                <a:latin typeface="Calibri" panose="020F0502020204030204"/>
              </a:defRPr>
            </a:pPr>
            <a:r>
              <a:t>Multi-Language NLP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25196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Natural language processing for non-English threat content across dark web and 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5080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F59E0B"/>
                </a:solidFill>
                <a:latin typeface="Calibri" panose="020F0502020204030204"/>
              </a:defRPr>
            </a:pPr>
            <a:r>
              <a:t>Blockchain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4406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Cryptocurrency transaction tracking for ransomware and dark web marketplace intelligence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983480"/>
            <a:ext cx="508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1">
                <a:solidFill>
                  <a:srgbClr val="DC2626"/>
                </a:solidFill>
                <a:latin typeface="Calibri" panose="020F0502020204030204"/>
              </a:defRPr>
            </a:pPr>
            <a:r>
              <a:t>Federated 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4406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CA3AF"/>
                </a:solidFill>
                <a:latin typeface="Calibri" panose="020F0502020204030204"/>
              </a:defRPr>
            </a:pPr>
            <a:r>
              <a:t>Cross-instance search federation for intelligence sharing between organizations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Key Achievements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9CA3AF"/>
                </a:solidFill>
                <a:latin typeface="Calibri" panose="020F0502020204030204"/>
              </a:defRPr>
            </a:pPr>
            <a:r>
              <a:t>What we accomplished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2860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Complete CTI/OSINT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2880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Successfully developed a comprehensive intelligence platform integrating automated data collection, AI-powered search, and enterprise SaaS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AI Face Recognition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2880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Implemented state-of-the-art face recognition using ArcFace, UniFace, SigLIP, and DINOv2 models with 99.5%+ accuracy on LFW benchmark.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Multi-Source Data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1752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Automated scraping from surface web, Telegram channels, and dark web (Tor) with real-time indexing and deduplication.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0604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0604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Enterprise SaaS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1752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Built multi-tenant organization management, white-label branding, reseller platform, and tiered subscription system.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79476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Security-First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0624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Achieved OWASP Top 10 compliance with JWT/2FA auth, RBAC, CSRF protection, comprehensive audit logging, and penetration testing.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79476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8620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Integration Ecosystem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20624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Developed webhook system (14 events), SIEM export (CEF/LEEF), MISP connector, and Slack/Teams/Email notifications.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Production-Ready Codebase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9496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Zero TypeScript errors, production build verified, 55+ database tables, 100+ API endpoints, and comprehensive documentation.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983480"/>
            <a:ext cx="5349240" cy="1005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983480"/>
            <a:ext cx="5080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507492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22C55E"/>
                </a:solidFill>
                <a:latin typeface="Calibri" panose="020F0502020204030204"/>
              </a:defRPr>
            </a:pPr>
            <a:r>
              <a:t>Complete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394960"/>
            <a:ext cx="4846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1050" b="0">
                <a:solidFill>
                  <a:srgbClr val="9CA3AF"/>
                </a:solidFill>
                <a:latin typeface="Calibri" panose="020F0502020204030204"/>
              </a:defRPr>
            </a:pPr>
            <a:r>
              <a:t>Delivered SRS, design document (18 UML diagrams), test plan, user manual, and API reference documentation.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Calibri" panose="020F0502020204030204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926080"/>
            <a:ext cx="228600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400" b="0">
                <a:solidFill>
                  <a:srgbClr val="3B82F6"/>
                </a:solidFill>
                <a:latin typeface="Calibri" panose="020F0502020204030204"/>
              </a:defRPr>
            </a:pPr>
            <a:r>
              <a:t>Intel Forge: CTI &amp; OSINT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2000" b="0">
                <a:solidFill>
                  <a:srgbClr val="9CA3AF"/>
                </a:solidFill>
                <a:latin typeface="Calibri" panose="020F0502020204030204"/>
              </a:defRPr>
            </a:pPr>
            <a:r>
              <a:t>Questions &amp; Discussion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754880"/>
            <a:ext cx="758952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892040"/>
            <a:ext cx="7040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D1D5DB"/>
                </a:solidFill>
                <a:latin typeface="Calibri" panose="020F0502020204030204"/>
              </a:defRPr>
            </a:pPr>
            <a:r>
              <a:t>Final Year Project  •  Batch 2022-2026  •  Department of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212080"/>
            <a:ext cx="7040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0"/>
              </a:spcAft>
              <a:defRPr sz="1200" b="0">
                <a:solidFill>
                  <a:srgbClr val="9CA3AF"/>
                </a:solidFill>
                <a:latin typeface="Calibri" panose="020F0502020204030204"/>
              </a:defRPr>
            </a:pPr>
            <a:r>
              <a:t>Supervised by: Dr. [Supervisor Name]  |  [University Name]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6263640"/>
            <a:ext cx="11643055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Department of Computer Science  •  Final Year Project 2025-2026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35508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9CA3AF"/>
                </a:solidFill>
                <a:latin typeface="Calibri" panose="020F0502020204030204"/>
              </a:defRPr>
            </a:pPr>
            <a:r>
              <a:t>Intel Forge  •  CTI &amp; OSINT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23826</Words>
  <Application>WPS Presentation</Application>
  <PresentationFormat>On-screen Show (4:3)</PresentationFormat>
  <Paragraphs>1376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2</cp:revision>
  <dcterms:created xsi:type="dcterms:W3CDTF">2013-01-27T09:14:00Z</dcterms:created>
  <dcterms:modified xsi:type="dcterms:W3CDTF">2026-05-07T03:31:25Z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01E3815349C3456486B50167841270A4_12</vt:lpwstr>
  </property>
  <property fmtid="{D5CDD505-2E9C-101B-9397-08002B2CF9AE}" pid="3" name="KSOProductBuildVer">
    <vt:lpwstr>1033-12.1.0.25180</vt:lpwstr>
  </property>
</Properties>
</file>