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25603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1440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8400" b="1">
                <a:solidFill>
                  <a:srgbClr val="FFFFFF"/>
                </a:solidFill>
                <a:latin typeface="Calibri"/>
              </a:defRPr>
            </a:pPr>
            <a:r>
              <a:t>Intel Forge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834640"/>
            <a:ext cx="1828800" cy="63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800" b="0">
                <a:solidFill>
                  <a:srgbClr val="3B82F6"/>
                </a:solidFill>
                <a:latin typeface="Calibri"/>
              </a:defRPr>
            </a:pPr>
            <a:r>
              <a:t>CTI &amp; OSINT 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9CA3AF"/>
                </a:solidFill>
                <a:latin typeface="Calibri"/>
              </a:defRPr>
            </a:pPr>
            <a:r>
              <a:t>Cyber Threat Intelligence  •  Open Source Intelligence  •  AI-Powered Face Recognition  •  Enterprise SaaS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0292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9CA3AF"/>
                </a:solidFill>
                <a:latin typeface="Calibri"/>
              </a:defRPr>
            </a:pPr>
            <a:r>
              <a:t>Final Year Project  •  Batch 2022-2026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949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9CA3AF"/>
                </a:solidFill>
                <a:latin typeface="Calibri"/>
              </a:defRPr>
            </a:pPr>
            <a:r>
              <a:t>Supervised by: Dr. [Supervisor Name]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Our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43000"/>
            <a:ext cx="13716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2468880" cy="2926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91640" y="2194560"/>
            <a:ext cx="914400" cy="914400"/>
          </a:xfrm>
          <a:prstGeom prst="ellipse">
            <a:avLst/>
          </a:prstGeom>
          <a:solidFill>
            <a:srgbClr val="1F293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242316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3600" b="1">
                <a:solidFill>
                  <a:srgbClr val="3B82F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375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Student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576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3B82F6"/>
                </a:solidFill>
                <a:latin typeface="Calibri"/>
              </a:defRPr>
            </a:pPr>
            <a:r>
              <a:t>Full-Stack Developer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7764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Next.js, Python, 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1828800"/>
            <a:ext cx="2468880" cy="2926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60" y="2194560"/>
            <a:ext cx="914400" cy="914400"/>
          </a:xfrm>
          <a:prstGeom prst="ellipse">
            <a:avLst/>
          </a:prstGeom>
          <a:solidFill>
            <a:srgbClr val="1F293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42316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3600" b="1">
                <a:solidFill>
                  <a:srgbClr val="3B82F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3375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Student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6576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3B82F6"/>
                </a:solidFill>
                <a:latin typeface="Calibri"/>
              </a:defRPr>
            </a:pPr>
            <a:r>
              <a:t>AI/ML Engineer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97764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Face Recognition, OCR, YOLO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828800"/>
            <a:ext cx="2468880" cy="2926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69480" y="2194560"/>
            <a:ext cx="914400" cy="914400"/>
          </a:xfrm>
          <a:prstGeom prst="ellipse">
            <a:avLst/>
          </a:prstGeom>
          <a:solidFill>
            <a:srgbClr val="1F293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242316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3600" b="1">
                <a:solidFill>
                  <a:srgbClr val="3B82F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3375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Student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6576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3B82F6"/>
                </a:solidFill>
                <a:latin typeface="Calibri"/>
              </a:defRPr>
            </a:pPr>
            <a:r>
              <a:t>Security &amp; DevOps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97764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Docker, OWASP, CI/CD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1828800"/>
            <a:ext cx="2468880" cy="2926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400" y="2194560"/>
            <a:ext cx="914400" cy="914400"/>
          </a:xfrm>
          <a:prstGeom prst="ellipse">
            <a:avLst/>
          </a:prstGeom>
          <a:solidFill>
            <a:srgbClr val="1F293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242316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3600" b="1">
                <a:solidFill>
                  <a:srgbClr val="3B82F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3375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Student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6576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3B82F6"/>
                </a:solidFill>
                <a:latin typeface="Calibri"/>
              </a:defRPr>
            </a:pPr>
            <a:r>
              <a:t>Data &amp; Integrations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97764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PostgreSQL, APIs, Scraping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9CA3AF"/>
                </a:solidFill>
                <a:latin typeface="Calibri"/>
              </a:defRPr>
            </a:pPr>
            <a:r>
              <a:t>Supervised by: Dr. [Supervisor Name]  |  Department of Computer Science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Intel Forge  •  CTI &amp; OSINT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554480"/>
            <a:ext cx="502920" cy="5029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572768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Introduction &amp; 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901952"/>
            <a:ext cx="8229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9CA3AF"/>
                </a:solidFill>
                <a:latin typeface="Calibri"/>
              </a:defRPr>
            </a:pPr>
            <a:r>
              <a:t>CTI/OSINT concepts, challenges, and project objectives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46888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487168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816352"/>
            <a:ext cx="8229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9CA3AF"/>
                </a:solidFill>
                <a:latin typeface="Calibri"/>
              </a:defRPr>
            </a:pPr>
            <a:r>
              <a:t>System design, tech stack, AI/ML backend, database schema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383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564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401568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Platform Capabilities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730752"/>
            <a:ext cx="8229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9CA3AF"/>
                </a:solidFill>
                <a:latin typeface="Calibri"/>
              </a:defRPr>
            </a:pPr>
            <a:r>
              <a:t>Search, intelligence dashboard, face recognition, monitoring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2976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708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315968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SaaS &amp; Enterprise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645152"/>
            <a:ext cx="8229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9CA3AF"/>
                </a:solidFill>
                <a:latin typeface="Calibri"/>
              </a:defRPr>
            </a:pPr>
            <a:r>
              <a:t>Multi-tenant, integrations, white-label, pricing, security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521208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852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230368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Implementation &amp;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559552"/>
            <a:ext cx="8229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9CA3AF"/>
                </a:solidFill>
                <a:latin typeface="Calibri"/>
              </a:defRPr>
            </a:pPr>
            <a:r>
              <a:t>Development methodology, statistics, comparison, future work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Intel Forge  •  CTI &amp; OSINT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1828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800" b="1">
                <a:solidFill>
                  <a:srgbClr val="DC262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Introduction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749039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600" b="0">
                <a:solidFill>
                  <a:srgbClr val="9CA3AF"/>
                </a:solidFill>
                <a:latin typeface="Calibri"/>
              </a:defRPr>
            </a:pPr>
            <a:r>
              <a:t>Understanding CTI, OSINT, and the challenges we address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434840"/>
            <a:ext cx="27432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Intel Forge  •  CTI &amp; OSINT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What is CTI &amp; OSINT?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9CA3AF"/>
                </a:solidFill>
                <a:latin typeface="Calibri"/>
              </a:defRPr>
            </a:pPr>
            <a:r>
              <a:t>Cyber Threat Intelligence &amp; Open Source Intelligence explained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0352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1783080"/>
            <a:ext cx="101600" cy="10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719072"/>
            <a:ext cx="4663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Cyber Threat Intelligence (CTI)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48840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D1D5DB"/>
                </a:solidFill>
                <a:latin typeface="Calibri"/>
              </a:defRPr>
            </a:pPr>
            <a:r>
              <a:t>• Collection and analysis of information about threats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78024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D1D5DB"/>
                </a:solidFill>
                <a:latin typeface="Calibri"/>
              </a:defRPr>
            </a:pPr>
            <a:r>
              <a:t>• Dark web monitoring for data breaches &amp; leaked credentials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807208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D1D5DB"/>
                </a:solidFill>
                <a:latin typeface="Calibri"/>
              </a:defRPr>
            </a:pPr>
            <a:r>
              <a:t>• Threat actor tracking across forums &amp; marketplaces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136392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D1D5DB"/>
                </a:solidFill>
                <a:latin typeface="Calibri"/>
              </a:defRPr>
            </a:pPr>
            <a:r>
              <a:t>• Real-time alerts for brand mentions on malicious sites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465576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D1D5DB"/>
                </a:solidFill>
                <a:latin typeface="Calibri"/>
              </a:defRPr>
            </a:pPr>
            <a:r>
              <a:t>• Historical threat data analysis and trend identification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794760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D1D5DB"/>
                </a:solidFill>
                <a:latin typeface="Calibri"/>
              </a:defRPr>
            </a:pPr>
            <a:r>
              <a:t>• Automated takedown intelligence and incident response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554480"/>
            <a:ext cx="530352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37960" y="1783080"/>
            <a:ext cx="101600" cy="10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1719072"/>
            <a:ext cx="4663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Open Source Intelligence (OSINT)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148840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D1D5DB"/>
                </a:solidFill>
                <a:latin typeface="Calibri"/>
              </a:defRPr>
            </a:pPr>
            <a:r>
              <a:t>• Gathering intelligence from publicly available 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478024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D1D5DB"/>
                </a:solidFill>
                <a:latin typeface="Calibri"/>
              </a:defRPr>
            </a:pPr>
            <a:r>
              <a:t>• Surface web scraping — social media, forums, news sites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807208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D1D5DB"/>
                </a:solidFill>
                <a:latin typeface="Calibri"/>
              </a:defRPr>
            </a:pPr>
            <a:r>
              <a:t>• Telegram channel monitoring for threat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136392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D1D5DB"/>
                </a:solidFill>
                <a:latin typeface="Calibri"/>
              </a:defRPr>
            </a:pPr>
            <a:r>
              <a:t>• Automated data aggregation from multiple 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465576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D1D5DB"/>
                </a:solidFill>
                <a:latin typeface="Calibri"/>
              </a:defRPr>
            </a:pPr>
            <a:r>
              <a:t>• Metadata extraction and relationship mapping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794760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D1D5DB"/>
                </a:solidFill>
                <a:latin typeface="Calibri"/>
              </a:defRPr>
            </a:pPr>
            <a:r>
              <a:t>• Legal and ethical intelligence gathering framework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023360"/>
            <a:ext cx="10698480" cy="7315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160520"/>
            <a:ext cx="10241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D1D5DB"/>
                </a:solidFill>
                <a:latin typeface="Calibri"/>
              </a:defRPr>
            </a:pPr>
            <a:r>
              <a:t>Intel Forge bridges CTI and OSINT into a unified platform — enabling organizations to detect, analyze, and respond to threats in real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9CA3AF"/>
                </a:solidFill>
                <a:latin typeface="Calibri"/>
              </a:defRPr>
            </a:pPr>
            <a:r>
              <a:t>Challenges in modern intelligence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3035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50800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36192"/>
            <a:ext cx="4937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Data Overload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10512"/>
            <a:ext cx="49377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Massive volumes of unstructured data across surface web, dark web, and messaging platforms make manual investigation impractical.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63040"/>
            <a:ext cx="53035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463040"/>
            <a:ext cx="5080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36192"/>
            <a:ext cx="4937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Slow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810512"/>
            <a:ext cx="49377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Traditional intelligence gathering is slow and error-prone — organizations need sub-second search across terabytes of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53035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0800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862072"/>
            <a:ext cx="4937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Brand Exposure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136392"/>
            <a:ext cx="49377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Organizations lack visibility into brand misuse, phishing campaigns, and impersonation across multiple channels simultaneously.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788920"/>
            <a:ext cx="53035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788920"/>
            <a:ext cx="5080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862072"/>
            <a:ext cx="4937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Access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136392"/>
            <a:ext cx="49377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No unified system provides tiered, role-based access to sensitive intelligence while maintaining security and audit trails.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114800"/>
            <a:ext cx="53035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114800"/>
            <a:ext cx="50800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187952"/>
            <a:ext cx="4937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Face Search Gap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462272"/>
            <a:ext cx="49377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Existing solutions lack AI-powered face recognition search across large-scale image repositories for investigative purposes.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114800"/>
            <a:ext cx="53035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4114800"/>
            <a:ext cx="5080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187952"/>
            <a:ext cx="4937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Integration Deficit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462272"/>
            <a:ext cx="49377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Intelligence platforms rarely integrate with existing security stacks — SIEMs, MISP, Slack, and custom webhooks.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9CA3AF"/>
                </a:solidFill>
                <a:latin typeface="Calibri"/>
              </a:defRPr>
            </a:pPr>
            <a:r>
              <a:t>What Intel Forge aims to achieve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303520" cy="1143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530352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72768"/>
            <a:ext cx="4937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Secure 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47088"/>
            <a:ext cx="49377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JWT tokens, 2FA, RBAC, session management, and OWASP-compliant security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63040"/>
            <a:ext cx="5303520" cy="1143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463040"/>
            <a:ext cx="53035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72768"/>
            <a:ext cx="4937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Fast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847088"/>
            <a:ext cx="49377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Sub-second full-text search via Quickwit and AI-powered face recognition via ArcFace/Milvus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80360"/>
            <a:ext cx="5303520" cy="1143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880360"/>
            <a:ext cx="530352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990088"/>
            <a:ext cx="4937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Automated Collection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264408"/>
            <a:ext cx="49377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Multi-source data ingestion from surface web, Telegram, dark web with automatic indexing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880360"/>
            <a:ext cx="5303520" cy="1143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880360"/>
            <a:ext cx="530352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990088"/>
            <a:ext cx="4937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Intelligence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264408"/>
            <a:ext cx="49377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Real-time threat monitoring, brand protection alerts, and comprehensive analytics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97680"/>
            <a:ext cx="5303520" cy="1143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297680"/>
            <a:ext cx="530352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07408"/>
            <a:ext cx="4937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Enterprise SaaS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681728"/>
            <a:ext cx="49377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Multi-tenant organizations, white-label branding, reseller platform, and subscription tiers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297680"/>
            <a:ext cx="5303520" cy="1143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4297680"/>
            <a:ext cx="530352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407408"/>
            <a:ext cx="4937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External Integrations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681728"/>
            <a:ext cx="49377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Webhook dispatch, SIEM export (CEF/LEEF), MISP connector, Slack &amp; Teams notifications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Platform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9CA3AF"/>
                </a:solidFill>
                <a:latin typeface="Calibri"/>
              </a:defRPr>
            </a:pPr>
            <a:r>
              <a:t>Intel Forge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201168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508760"/>
            <a:ext cx="20116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800" b="1">
                <a:solidFill>
                  <a:srgbClr val="3B82F6"/>
                </a:solidFill>
                <a:latin typeface="Calibri"/>
              </a:defRPr>
            </a:pPr>
            <a:r>
              <a:t>3+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9CA3AF"/>
                </a:solidFill>
                <a:latin typeface="Calibri"/>
              </a:defRPr>
            </a:pPr>
            <a:r>
              <a:t>Data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70632" y="1508760"/>
            <a:ext cx="201168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70632" y="1508760"/>
            <a:ext cx="20116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201168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800" b="1">
                <a:solidFill>
                  <a:srgbClr val="22C55E"/>
                </a:solidFill>
                <a:latin typeface="Calibri"/>
              </a:defRPr>
            </a:pPr>
            <a:r>
              <a:t>55+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952" y="251460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9CA3AF"/>
                </a:solidFill>
                <a:latin typeface="Calibri"/>
              </a:defRPr>
            </a:pPr>
            <a:r>
              <a:t>Database Tables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46904" y="1508760"/>
            <a:ext cx="201168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46904" y="1508760"/>
            <a:ext cx="201168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1224" y="201168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800" b="1">
                <a:solidFill>
                  <a:srgbClr val="DC2626"/>
                </a:solidFill>
                <a:latin typeface="Calibri"/>
              </a:defRPr>
            </a:pPr>
            <a:r>
              <a:t>99%+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251460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9CA3AF"/>
                </a:solidFill>
                <a:latin typeface="Calibri"/>
              </a:defRPr>
            </a:pPr>
            <a:r>
              <a:t>Face Match Accuracy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23176" y="1508760"/>
            <a:ext cx="201168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23176" y="1508760"/>
            <a:ext cx="20116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97496" y="201168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800" b="1">
                <a:solidFill>
                  <a:srgbClr val="F59E0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7496" y="251460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9CA3AF"/>
                </a:solidFill>
                <a:latin typeface="Calibri"/>
              </a:defRPr>
            </a:pPr>
            <a:r>
              <a:t>AI/ML Models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99448" y="1508760"/>
            <a:ext cx="201168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99448" y="1508760"/>
            <a:ext cx="201168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73768" y="201168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800" b="1">
                <a:solidFill>
                  <a:srgbClr val="A855F7"/>
                </a:solidFill>
                <a:latin typeface="Calibri"/>
              </a:defRPr>
            </a:pPr>
            <a:r>
              <a:t>&lt;2s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73768" y="251460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9CA3AF"/>
                </a:solidFill>
                <a:latin typeface="Calibri"/>
              </a:defRPr>
            </a:pPr>
            <a:r>
              <a:t>Search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20040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D1D5DB"/>
                </a:solidFill>
                <a:latin typeface="Calibri"/>
              </a:defRPr>
            </a:pPr>
            <a:r>
              <a:t>▸ Face Recognition Search (ArcFace/UniFace)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602736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D1D5DB"/>
                </a:solidFill>
                <a:latin typeface="Calibri"/>
              </a:defRPr>
            </a:pPr>
            <a:r>
              <a:t>▸ Full-Text Search Engine (Quickwit)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005072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D1D5DB"/>
                </a:solidFill>
                <a:latin typeface="Calibri"/>
              </a:defRPr>
            </a:pPr>
            <a:r>
              <a:t>▸ Vector Similarity Search (Milvus/Faiss)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407408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D1D5DB"/>
                </a:solidFill>
                <a:latin typeface="Calibri"/>
              </a:defRPr>
            </a:pPr>
            <a:r>
              <a:t>▸ Automated Multi-Source Scraping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20040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D1D5DB"/>
                </a:solidFill>
                <a:latin typeface="Calibri"/>
              </a:defRPr>
            </a:pPr>
            <a:r>
              <a:t>▸ Real-Time Threat Monitoring &amp; Alerts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602736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D1D5DB"/>
                </a:solidFill>
                <a:latin typeface="Calibri"/>
              </a:defRPr>
            </a:pPr>
            <a:r>
              <a:t>▸ Multi-Tenant Organization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005072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D1D5DB"/>
                </a:solidFill>
                <a:latin typeface="Calibri"/>
              </a:defRPr>
            </a:pPr>
            <a:r>
              <a:t>▸ White-Label Branding &amp; Reseller 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407408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D1D5DB"/>
                </a:solidFill>
                <a:latin typeface="Calibri"/>
              </a:defRPr>
            </a:pPr>
            <a:r>
              <a:t>▸ SIEM, MISP, Slack, Teams Integrations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1828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800" b="1">
                <a:solidFill>
                  <a:srgbClr val="DC262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749039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600" b="0">
                <a:solidFill>
                  <a:srgbClr val="9CA3AF"/>
                </a:solidFill>
                <a:latin typeface="Calibri"/>
              </a:defRPr>
            </a:pPr>
            <a:r>
              <a:t>System design, technology stack, and AI/ML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434840"/>
            <a:ext cx="27432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Intel Forge  •  CTI &amp; OSINT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9CA3AF"/>
                </a:solidFill>
                <a:latin typeface="Calibri"/>
              </a:defRPr>
            </a:pPr>
            <a:r>
              <a:t>Hybrid layered architecture with microservices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10698480" cy="71323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63500" cy="7132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5544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3B82F6"/>
                </a:solidFill>
                <a:latin typeface="Calibri"/>
              </a:defRPr>
            </a:pPr>
            <a:r>
              <a:t>Presentation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847088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CA3AF"/>
                </a:solidFill>
                <a:latin typeface="Calibri"/>
              </a:defRPr>
            </a:pPr>
            <a:r>
              <a:t>Next.js 16 + React 19 + TypeScript + Tailwind CSS + Radix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286000"/>
            <a:ext cx="10698480" cy="71323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286000"/>
            <a:ext cx="63500" cy="7132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37744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22C55E"/>
                </a:solidFill>
                <a:latin typeface="Calibri"/>
              </a:defRPr>
            </a:pPr>
            <a:r>
              <a:t>Application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670048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CA3AF"/>
                </a:solidFill>
                <a:latin typeface="Calibri"/>
              </a:defRPr>
            </a:pPr>
            <a:r>
              <a:t>Next.js API Routes + Middleware (Auth, RBAC, Rate Limiting, CSRF)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108960"/>
            <a:ext cx="10698480" cy="71323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108960"/>
            <a:ext cx="63500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2004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F59E0B"/>
                </a:solidFill>
                <a:latin typeface="Calibri"/>
              </a:defRPr>
            </a:pPr>
            <a:r>
              <a:t>Service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493008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CA3AF"/>
                </a:solidFill>
                <a:latin typeface="Calibri"/>
              </a:defRPr>
            </a:pPr>
            <a:r>
              <a:t>Python FastAPI (Face Recognition) + Go Indexer + Python Scrapers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31920"/>
            <a:ext cx="10698480" cy="71323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931920"/>
            <a:ext cx="63500" cy="7132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0233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DC2626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315968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CA3AF"/>
                </a:solidFill>
                <a:latin typeface="Calibri"/>
              </a:defRPr>
            </a:pPr>
            <a:r>
              <a:t>PostgreSQL 16 (Primary DB) + Quickwit (Full-Text) + Milvus (Vector) + MinIO (Objects)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754880"/>
            <a:ext cx="10698480" cy="71323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754880"/>
            <a:ext cx="63500" cy="7132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8463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A855F7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138928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CA3AF"/>
                </a:solidFill>
                <a:latin typeface="Calibri"/>
              </a:defRPr>
            </a:pPr>
            <a:r>
              <a:t>Docker Compose + Nginx Reverse Proxy + Redis Caching + Horizontal Scaling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6928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CA3AF"/>
                </a:solidFill>
                <a:latin typeface="Calibri"/>
              </a:defRPr>
            </a:pPr>
            <a:r>
              <a:t>All services containerized with Docker  •  CI/CD via GitHub Actions  •  Horizontal scaling with load-balanced API instances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9CA3AF"/>
                </a:solidFill>
                <a:latin typeface="Calibri"/>
              </a:defRPr>
            </a:pPr>
            <a:r>
              <a:t>Complete technology ecosystem powering Intel Forge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361188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371600"/>
            <a:ext cx="36118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087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3B82F6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87452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Next.js 16 (App Router)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9456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React 19 + TypeScript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51460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Tailwind CSS + Radix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83464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Recharts + Charts.js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15468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Leaflet Maps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371600"/>
            <a:ext cx="361188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371600"/>
            <a:ext cx="36118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15087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22C55E"/>
                </a:solidFill>
                <a:latin typeface="Calibri"/>
              </a:defRPr>
            </a:pPr>
            <a:r>
              <a:t>Backend &amp;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187452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Next.js API Routes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19456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Python FastAPI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51460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Go High-Performance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283464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JWT + 2FA Authentication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15468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RBAC + API Key Management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1371600"/>
            <a:ext cx="361188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371600"/>
            <a:ext cx="361188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15087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DC2626"/>
                </a:solidFill>
                <a:latin typeface="Calibri"/>
              </a:defRPr>
            </a:pPr>
            <a:r>
              <a:t>AI &amp; Machine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187452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ArcFace / UniFace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19456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SigLIP + DINOv2 Embeddings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51460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YOLOv8 Object 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83464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MTCNN Face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15468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Tesseract + EasyOCR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794760"/>
            <a:ext cx="361188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3794760"/>
            <a:ext cx="36118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9319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F59E0B"/>
                </a:solidFill>
                <a:latin typeface="Calibri"/>
              </a:defRPr>
            </a:pPr>
            <a:r>
              <a:t>Data &amp; Storage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29768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PostgreSQL 16 (55+ Tables)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61772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Quickwit Full-Text Search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93776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Milvus Vector Database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25780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MinIO Object Storage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57784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Redis Session Cache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43400" y="3794760"/>
            <a:ext cx="361188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794760"/>
            <a:ext cx="361188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26280" y="39319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A855F7"/>
                </a:solidFill>
                <a:latin typeface="Calibri"/>
              </a:defRPr>
            </a:pPr>
            <a:r>
              <a:t>DevOps &amp; Security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0" y="429768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Docker + Docker Compose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17720" y="461772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Nginx Reverse Proxy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17720" y="493776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GitHub Actions CI/CD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525780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OWASP Top 10 Compliance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17720" y="557784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Security Audit Logging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38160" y="3794760"/>
            <a:ext cx="361188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38160" y="3794760"/>
            <a:ext cx="36118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40" y="39319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3B82F6"/>
                </a:solidFill>
                <a:latin typeface="Calibri"/>
              </a:defRPr>
            </a:pPr>
            <a:r>
              <a:t>Data Collection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429768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Telethon (Telegram API)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461772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BeautifulSoup + Selenium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493776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Stem (Tor Network)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525780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Threads GraphQL API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557784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RSS/Atom Feed Parser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AI/ML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9CA3AF"/>
                </a:solidFill>
                <a:latin typeface="Calibri"/>
              </a:defRPr>
            </a:pPr>
            <a:r>
              <a:t>Face recognition and intelligent indexing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303520" cy="30175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53035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0020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3B82F6"/>
                </a:solidFill>
                <a:latin typeface="Calibri"/>
              </a:defRPr>
            </a:pPr>
            <a:r>
              <a:t>Face Recognition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011680"/>
            <a:ext cx="47548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1. Face Detection — YOLOv8 / MTCNN localizes faces in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77440"/>
            <a:ext cx="47548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2. Alignment — Affine transformation for pose normalization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743200"/>
            <a:ext cx="47548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3. Embedding — ArcFace (ResNet-100) generates 512-d vectors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108960"/>
            <a:ext cx="47548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4. Indexing — FAISS IVF-PQ for fast approximate nearest neighbor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474720"/>
            <a:ext cx="47548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5. Storage — Milvus manages vector index at scale (millions of embeddings)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840480"/>
            <a:ext cx="47548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6. Retrieval — Cosine similarity ranking with threshold filtering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06240"/>
            <a:ext cx="47548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7. Clustering — DBSCAN groups similar faces for identity resolution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463040"/>
            <a:ext cx="5303520" cy="30175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463040"/>
            <a:ext cx="530352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60020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22C55E"/>
                </a:solidFill>
                <a:latin typeface="Calibri"/>
              </a:defRPr>
            </a:pPr>
            <a:r>
              <a:t>AI Models &amp;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011680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ArcFace (ResNet-100): 99.5%+ on LFW — primary face recognition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359152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UniFace (ResNet-101): 99.8%+ — cross-domain generalization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706624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SigLIP: Zero-shot image-text alignment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054096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DINOv2: Self-supervised visual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401568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YOLOv8: Real-time object &amp; face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749040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Tesseract + EasyOCR: Multi-language OCR for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096512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MTCNN: Lightweight face detection &amp; landmarking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709160"/>
            <a:ext cx="10698480" cy="640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800600"/>
            <a:ext cx="10241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9CA3AF"/>
                </a:solidFill>
                <a:latin typeface="Calibri"/>
              </a:defRPr>
            </a:pPr>
            <a:r>
              <a:t>Python FastAPI serves all AI models with GPU acceleration (CUDA)  •  Batch processing support  •  Model versioning with hot-swap capability  •  Embedding caching for performance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9CA3AF"/>
                </a:solidFill>
                <a:latin typeface="Calibri"/>
              </a:defRPr>
            </a:pPr>
            <a:r>
              <a:t>PostgreSQL 16 with comprehensive schema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260604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26060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20240"/>
            <a:ext cx="2057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800" b="1">
                <a:solidFill>
                  <a:srgbClr val="3B82F6"/>
                </a:solidFill>
                <a:latin typeface="Calibri"/>
              </a:defRPr>
            </a:pPr>
            <a:r>
              <a:t>55+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23160"/>
            <a:ext cx="2057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9CA3AF"/>
                </a:solidFill>
                <a:latin typeface="Calibri"/>
              </a:defRPr>
            </a:pPr>
            <a:r>
              <a:t>Database Tables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417320"/>
            <a:ext cx="260604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1417320"/>
            <a:ext cx="260604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1920240"/>
            <a:ext cx="2057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800" b="1">
                <a:solidFill>
                  <a:srgbClr val="22C55E"/>
                </a:solidFill>
                <a:latin typeface="Calibri"/>
              </a:defRPr>
            </a:pPr>
            <a:r>
              <a:t>100+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423160"/>
            <a:ext cx="2057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9CA3AF"/>
                </a:solidFill>
                <a:latin typeface="Calibri"/>
              </a:defRPr>
            </a:pPr>
            <a:r>
              <a:t>Indexes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417320"/>
            <a:ext cx="260604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417320"/>
            <a:ext cx="260604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920240"/>
            <a:ext cx="2057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800" b="1">
                <a:solidFill>
                  <a:srgbClr val="F59E0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423160"/>
            <a:ext cx="2057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9CA3AF"/>
                </a:solidFill>
                <a:latin typeface="Calibri"/>
              </a:defRPr>
            </a:pPr>
            <a:r>
              <a:t>DB Schemas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417320"/>
            <a:ext cx="260604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417320"/>
            <a:ext cx="260604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1920240"/>
            <a:ext cx="2057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800" b="1">
                <a:solidFill>
                  <a:srgbClr val="DC2626"/>
                </a:solidFill>
                <a:latin typeface="Calibri"/>
              </a:defRPr>
            </a:pPr>
            <a:r>
              <a:t>3NF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2423160"/>
            <a:ext cx="2057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9CA3AF"/>
                </a:solidFill>
                <a:latin typeface="Calibri"/>
              </a:defRPr>
            </a:pPr>
            <a:r>
              <a:t>Normalization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2880360"/>
            <a:ext cx="5303520" cy="62179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2880360"/>
            <a:ext cx="50800" cy="6217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2953512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3B82F6"/>
                </a:solidFill>
                <a:latin typeface="Calibri"/>
              </a:defRPr>
            </a:pPr>
            <a:r>
              <a:t>Core Schema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191256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CA3AF"/>
                </a:solidFill>
                <a:latin typeface="Calibri"/>
              </a:defRPr>
            </a:pPr>
            <a:r>
              <a:t>users, sessions, api_keys, subscription_plans, user_subscriptions, quotas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593592"/>
            <a:ext cx="5303520" cy="62179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3593592"/>
            <a:ext cx="50800" cy="6217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3666744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22C55E"/>
                </a:solidFill>
                <a:latin typeface="Calibri"/>
              </a:defRPr>
            </a:pPr>
            <a:r>
              <a:t>Intel Schema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3904488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CA3AF"/>
                </a:solidFill>
                <a:latin typeface="Calibri"/>
              </a:defRPr>
            </a:pPr>
            <a:r>
              <a:t>search_index, search_index_lines, monitored_items, monitoring_alerts, threat_intel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306824"/>
            <a:ext cx="5303520" cy="62179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4306824"/>
            <a:ext cx="50800" cy="6217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4379976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F59E0B"/>
                </a:solidFill>
                <a:latin typeface="Calibri"/>
              </a:defRPr>
            </a:pPr>
            <a:r>
              <a:t>SaaS Schema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61772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CA3AF"/>
                </a:solidFill>
                <a:latin typeface="Calibri"/>
              </a:defRPr>
            </a:pPr>
            <a:r>
              <a:t>organizations, org_members, org_invites, tenant_branding, reseller_clients, webhooks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020056"/>
            <a:ext cx="5303520" cy="62179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5020056"/>
            <a:ext cx="50800" cy="6217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09320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DC2626"/>
                </a:solidFill>
                <a:latin typeface="Calibri"/>
              </a:defRPr>
            </a:pPr>
            <a:r>
              <a:t>Security Schema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330952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CA3AF"/>
                </a:solidFill>
                <a:latin typeface="Calibri"/>
              </a:defRPr>
            </a:pPr>
            <a:r>
              <a:t>security_logs, security_audit_logs, csrf_tokens, rate_limits, ip_locks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2880360"/>
            <a:ext cx="5303520" cy="2423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30175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3B82F6"/>
                </a:solidFill>
                <a:latin typeface="Calibri"/>
              </a:defRPr>
            </a:pPr>
            <a:r>
              <a:t>Key Database Features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3429000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Full-text search with TSVECTOR and GIN indexes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3703320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JSONB columns for flexible schema-less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3977640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Stored procedures &amp; triggers for data integrity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4251960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Row-Level Security (RLS) for multi-tenant isolation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4526280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Connection pooling (PgBouncer) for scalability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4800600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Point-in-time recovery with WAL archiving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5074920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Automated migrations with version control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5349240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Prepared statements to prevent SQL injection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1828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800" b="1">
                <a:solidFill>
                  <a:srgbClr val="DC262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Platform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749039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600" b="0">
                <a:solidFill>
                  <a:srgbClr val="9CA3AF"/>
                </a:solidFill>
                <a:latin typeface="Calibri"/>
              </a:defRPr>
            </a:pPr>
            <a:r>
              <a:t>Search, intelligence dashboard, face recognition, and monitoring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434840"/>
            <a:ext cx="27432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Intel Forge  •  CTI &amp; OSINT Platform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Intelligence Dashboard &amp; Search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9CA3AF"/>
                </a:solidFill>
                <a:latin typeface="Calibri"/>
              </a:defRPr>
            </a:pPr>
            <a:r>
              <a:t>Real-time threat visibility and powerful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30352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53035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72768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3B82F6"/>
                </a:solidFill>
                <a:latin typeface="Calibri"/>
              </a:defRPr>
            </a:pPr>
            <a:r>
              <a:t>Search Capabilities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65960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Text Search — Full-text search across indexed documents with Quickwit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13432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Face Search — AI-powered facial recognition across millions of 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60904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Sub-2 second response times with relevance scoring &amp; ranking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08376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Advanced filters: date range, source type, file type, threat 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355848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Bulk search &amp; export — CSV, JSON, PDF report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03320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Search history with saved queries and alert creation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463040"/>
            <a:ext cx="530352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463040"/>
            <a:ext cx="530352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572768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22C55E"/>
                </a:solidFill>
                <a:latin typeface="Calibri"/>
              </a:defRPr>
            </a:pPr>
            <a:r>
              <a:t>Intelligence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965960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Real-time threat feed with severity classification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313432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Interactive charts — threat trends, source distribution, alert volume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660904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Brand protection monitoring — mentions, impersonation, phishing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008376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Geolocation mapping of threats and data 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355848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Customizable widgets with drag-and-drop layout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703320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Exportable reports with executive summary generation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160520"/>
            <a:ext cx="10698480" cy="1554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27939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F59E0B"/>
                </a:solidFill>
                <a:latin typeface="Calibri"/>
              </a:defRPr>
            </a:pPr>
            <a:r>
              <a:t>Automated Monitoring &amp; Alerting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663440"/>
            <a:ext cx="1828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F59E0B"/>
                </a:solidFill>
                <a:latin typeface="Calibri"/>
              </a:defRPr>
            </a:pPr>
            <a:r>
              <a:t>Dark Web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663440"/>
            <a:ext cx="8229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D1D5DB"/>
                </a:solidFill>
                <a:latin typeface="Calibri"/>
              </a:defRPr>
            </a:pPr>
            <a:r>
              <a:t>Onion site crawling for brand mentions, leaked credentials, and IP exposure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974336"/>
            <a:ext cx="1828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F59E0B"/>
                </a:solidFill>
                <a:latin typeface="Calibri"/>
              </a:defRPr>
            </a:pPr>
            <a:r>
              <a:t>Telegram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974336"/>
            <a:ext cx="8229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D1D5DB"/>
                </a:solidFill>
                <a:latin typeface="Calibri"/>
              </a:defRPr>
            </a:pPr>
            <a:r>
              <a:t>Real-time channel monitoring for data breaches and threat actor communications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285232"/>
            <a:ext cx="1828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F59E0B"/>
                </a:solidFill>
                <a:latin typeface="Calibri"/>
              </a:defRPr>
            </a:pPr>
            <a:r>
              <a:t>Surface Web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5285232"/>
            <a:ext cx="8229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D1D5DB"/>
                </a:solidFill>
                <a:latin typeface="Calibri"/>
              </a:defRPr>
            </a:pPr>
            <a:r>
              <a:t>Social media, forums, and marketplace monitoring for brand impersonation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596128"/>
            <a:ext cx="1828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F59E0B"/>
                </a:solidFill>
                <a:latin typeface="Calibri"/>
              </a:defRPr>
            </a:pPr>
            <a:r>
              <a:t>Alert Rules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5596128"/>
            <a:ext cx="8229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D1D5DB"/>
                </a:solidFill>
                <a:latin typeface="Calibri"/>
              </a:defRPr>
            </a:pPr>
            <a:r>
              <a:t>Configurable thresholds, keyword matching, and regex-based detection rules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Face Search —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9CA3AF"/>
                </a:solidFill>
                <a:latin typeface="Calibri"/>
              </a:defRPr>
            </a:pPr>
            <a:r>
              <a:t>AI-powered facial recognition search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6858000" cy="3749039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68580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72768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DC2626"/>
                </a:solidFill>
                <a:latin typeface="Calibri"/>
              </a:defRPr>
            </a:pPr>
            <a:r>
              <a:t>Face Recognition Search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65960"/>
            <a:ext cx="1280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DC2626"/>
                </a:solidFill>
                <a:latin typeface="Calibri"/>
              </a:defRPr>
            </a:pPr>
            <a:r>
              <a:t>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1965960"/>
            <a:ext cx="48463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User uploads a query image containing a face via the dashboard or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04872"/>
            <a:ext cx="1280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DC2626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404872"/>
            <a:ext cx="48463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YOLOv8 detects all faces in the image; MTCNN extracts 5-point landmarks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843784"/>
            <a:ext cx="1280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DC2626"/>
                </a:solidFill>
                <a:latin typeface="Calibri"/>
              </a:defRPr>
            </a:pPr>
            <a:r>
              <a:t>Alignment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843784"/>
            <a:ext cx="48463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Affine transformation normalizes face pose, scale, and rotation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82696"/>
            <a:ext cx="1280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DC2626"/>
                </a:solidFill>
                <a:latin typeface="Calibri"/>
              </a:defRPr>
            </a:pPr>
            <a:r>
              <a:t>Embedding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282696"/>
            <a:ext cx="48463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ArcFace (ResNet-100) converts the aligned face into a 512-dimensional vector embedding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721608"/>
            <a:ext cx="1280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DC2626"/>
                </a:solidFill>
                <a:latin typeface="Calibri"/>
              </a:defRPr>
            </a:pPr>
            <a:r>
              <a:t>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721608"/>
            <a:ext cx="48463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FAISS IVF-PQ index performs approximate nearest neighbor search across millions of stored embeddings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160520"/>
            <a:ext cx="1280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DC2626"/>
                </a:solidFill>
                <a:latin typeface="Calibri"/>
              </a:defRPr>
            </a:pPr>
            <a:r>
              <a:t>Ranking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160520"/>
            <a:ext cx="48463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Cosine similarity scores are computed; results ranked and filtered by configurable threshold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599432"/>
            <a:ext cx="1280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DC2626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599432"/>
            <a:ext cx="48463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Top-K matches returned with similarity scores, source metadata, and thumbnail previews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38344"/>
            <a:ext cx="1280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DC2626"/>
                </a:solidFill>
                <a:latin typeface="Calibri"/>
              </a:defRPr>
            </a:pPr>
            <a:r>
              <a:t>Clustering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5038344"/>
            <a:ext cx="48463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DBSCAN groups similar faces across results for identity deduplication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1463040"/>
            <a:ext cx="3566160" cy="3749039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157276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2C55E"/>
                </a:solidFill>
                <a:latin typeface="Calibri"/>
              </a:defRPr>
            </a:pPr>
            <a:r>
              <a:t>Performance Metrics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1031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800" b="1">
                <a:solidFill>
                  <a:srgbClr val="22C55E"/>
                </a:solidFill>
                <a:latin typeface="Calibri"/>
              </a:defRPr>
            </a:pPr>
            <a:r>
              <a:t>99.5%+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130552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CA3AF"/>
                </a:solidFill>
                <a:latin typeface="Calibri"/>
              </a:defRPr>
            </a:pPr>
            <a:r>
              <a:t>Accuracy (LFW)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260604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800" b="1">
                <a:solidFill>
                  <a:srgbClr val="22C55E"/>
                </a:solidFill>
                <a:latin typeface="Calibri"/>
              </a:defRPr>
            </a:pPr>
            <a:r>
              <a:t>&lt; 200ms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2633472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CA3AF"/>
                </a:solidFill>
                <a:latin typeface="Calibri"/>
              </a:defRPr>
            </a:pPr>
            <a:r>
              <a:t>Face 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310896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800" b="1">
                <a:solidFill>
                  <a:srgbClr val="22C55E"/>
                </a:solidFill>
                <a:latin typeface="Calibri"/>
              </a:defRPr>
            </a:pPr>
            <a:r>
              <a:t>&lt; 50ms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3136392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CA3AF"/>
                </a:solidFill>
                <a:latin typeface="Calibri"/>
              </a:defRPr>
            </a:pPr>
            <a:r>
              <a:t>Embedding 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361188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800" b="1">
                <a:solidFill>
                  <a:srgbClr val="22C55E"/>
                </a:solidFill>
                <a:latin typeface="Calibri"/>
              </a:defRPr>
            </a:pPr>
            <a:r>
              <a:t>&lt; 500ms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3639312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CA3AF"/>
                </a:solidFill>
                <a:latin typeface="Calibri"/>
              </a:defRPr>
            </a:pPr>
            <a:r>
              <a:t>Vector Search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11480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800" b="1">
                <a:solidFill>
                  <a:srgbClr val="22C55E"/>
                </a:solidFill>
                <a:latin typeface="Calibri"/>
              </a:defRPr>
            </a:pPr>
            <a:r>
              <a:t>&lt; 2s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4142232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CA3AF"/>
                </a:solidFill>
                <a:latin typeface="Calibri"/>
              </a:defRPr>
            </a:pPr>
            <a:r>
              <a:t>End-to-End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46177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800" b="1">
                <a:solidFill>
                  <a:srgbClr val="22C55E"/>
                </a:solidFill>
                <a:latin typeface="Calibri"/>
              </a:defRPr>
            </a:pPr>
            <a:r>
              <a:t>1M+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4645152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CA3AF"/>
                </a:solidFill>
                <a:latin typeface="Calibri"/>
              </a:defRPr>
            </a:pPr>
            <a:r>
              <a:t>Embeddings Scale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4937760"/>
            <a:ext cx="31089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Models: ArcFace (ResNet-100), UniFace (ResNet-101), SigLIP, DINOv2</a:t>
            </a:r>
            <a:br/>
            <a:r>
              <a:t>GPU: NVIDIA CUDA with batch inference</a:t>
            </a:r>
            <a:br/>
            <a:r>
              <a:t>Index: FAISS IVF-PQ + Milvus distributed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Automated Data Collection &amp; Indexing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9CA3AF"/>
                </a:solidFill>
                <a:latin typeface="Calibri"/>
              </a:defRPr>
            </a:pPr>
            <a:r>
              <a:t>Multi-source ingestion with intelligent 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520440" cy="1920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35204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7276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3B82F6"/>
                </a:solidFill>
                <a:latin typeface="Calibri"/>
              </a:defRPr>
            </a:pPr>
            <a:r>
              <a:t>Surface 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65960"/>
            <a:ext cx="30175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Public websites &amp; forums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95144"/>
            <a:ext cx="30175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Threads GraphQL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24328"/>
            <a:ext cx="30175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RSS/Atom feed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53512"/>
            <a:ext cx="30175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Social media platforms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1463040"/>
            <a:ext cx="3520440" cy="1920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59" y="1463040"/>
            <a:ext cx="352044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39" y="157276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2C55E"/>
                </a:solidFill>
                <a:latin typeface="Calibri"/>
              </a:defRPr>
            </a:pPr>
            <a:r>
              <a:t>Telegram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1965960"/>
            <a:ext cx="30175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Real-time message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2295144"/>
            <a:ext cx="30175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Media &amp; file extraction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2624328"/>
            <a:ext cx="30175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MTProxy privacy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2953512"/>
            <a:ext cx="30175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Channel &amp; group tracking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598" y="1463040"/>
            <a:ext cx="3520440" cy="1920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598" y="1463040"/>
            <a:ext cx="352044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8" y="157276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DC2626"/>
                </a:solidFill>
                <a:latin typeface="Calibri"/>
              </a:defRPr>
            </a:pPr>
            <a:r>
              <a:t>Dark Web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8" y="1965960"/>
            <a:ext cx="30175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Tor network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8" y="2295144"/>
            <a:ext cx="30175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Onion forum crawling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8" y="2624328"/>
            <a:ext cx="30175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Marketplace monitoring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8" y="2953512"/>
            <a:ext cx="30175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Privacy-preserving scraping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611880"/>
            <a:ext cx="10698480" cy="2148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373075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F59E0B"/>
                </a:solidFill>
                <a:latin typeface="Calibri"/>
              </a:defRPr>
            </a:pPr>
            <a:r>
              <a:t>Automatic Indexing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09651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File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4096512"/>
            <a:ext cx="32004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File system watcher monitors /data directory for new files from scrapers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55371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Archive Extraction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4553712"/>
            <a:ext cx="32004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Auto-extract ZIP, RAR, 7Z archives; recursive directory traversal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01091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Document Parsing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5010912"/>
            <a:ext cx="32004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PDF, DOCX, XLSX text extraction; image OCR via Tesseract &amp; EasyOCR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09651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Text Indexing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4096512"/>
            <a:ext cx="32004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Batch indexing to Quickwit (1000 lines/batch); MD5 deduplication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55371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Face Indexing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4553712"/>
            <a:ext cx="32004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Face detection → embedding generation → Milvus vector storage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501091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Metadata Store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5010912"/>
            <a:ext cx="32004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File metadata, source info, timestamps stored in PostgreSQL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1828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800" b="1">
                <a:solidFill>
                  <a:srgbClr val="DC2626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SaaS &amp; Enterprise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749039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600" b="0">
                <a:solidFill>
                  <a:srgbClr val="9CA3AF"/>
                </a:solidFill>
                <a:latin typeface="Calibri"/>
              </a:defRPr>
            </a:pPr>
            <a:r>
              <a:t>Multi-tenant architecture, integrations, white-label, and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434840"/>
            <a:ext cx="27432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Intel Forge  •  CTI &amp; OSINT Platform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Multi-Tenant Organizations &amp;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9CA3AF"/>
                </a:solidFill>
                <a:latin typeface="Calibri"/>
              </a:defRPr>
            </a:pPr>
            <a:r>
              <a:t>Isolated workspaces with full RBAC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303520" cy="2560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53035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72768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3B82F6"/>
                </a:solidFill>
                <a:latin typeface="Calibri"/>
              </a:defRPr>
            </a:pPr>
            <a:r>
              <a:t>Organization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65960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Create and manage multiple organizations per user account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258568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Role-based access control: Owner, Admin, Member, Viewer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551176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Member invitation system with email-based invites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43784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Organization switching from navbar dropdown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136392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Per-organization API keys and quota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429000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Isolated search indexes and intelligence data per org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721608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Audit logging of all member actions within organization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463040"/>
            <a:ext cx="5303520" cy="2560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463040"/>
            <a:ext cx="530352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572768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22C55E"/>
                </a:solidFill>
                <a:latin typeface="Calibri"/>
              </a:defRPr>
            </a:pPr>
            <a:r>
              <a:t>White-Label &amp; Reseller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965960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Custom branding: logo, colors, company name, favicon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258568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Custom domain support with automatic SSL/TLS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551176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CSS variable generation for instant theme application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843784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Domain verification and DNS configuration assistance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136392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Reseller dashboard with client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429000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Commission tracking — MRR, earnings, client 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721608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Branded login pages and email templates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023360"/>
            <a:ext cx="10698480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114800"/>
            <a:ext cx="10241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D1D5DB"/>
                </a:solidFill>
                <a:latin typeface="Calibri"/>
              </a:defRPr>
            </a:pPr>
            <a:r>
              <a:t>Complete B2B SaaS platform with tiered subscriptions (Free → Starter → Professional → Enterprise), automated billing, and usage-based quotas.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External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9CA3AF"/>
                </a:solidFill>
                <a:latin typeface="Calibri"/>
              </a:defRPr>
            </a:pPr>
            <a:r>
              <a:t>Connecting Intel Forge with your security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349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53492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0876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3B82F6"/>
                </a:solidFill>
                <a:latin typeface="Calibri"/>
              </a:defRPr>
            </a:pPr>
            <a:r>
              <a:t>Webhooks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874520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14 typed event types for real-time notifications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194560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HMAC-SHA256 signature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14600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Retry with exponential backoff (3 attempts)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834640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Webhook log viewer with delivery status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54680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Test fire capability for debugging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417320"/>
            <a:ext cx="5349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417320"/>
            <a:ext cx="534924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50876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DC2626"/>
                </a:solidFill>
                <a:latin typeface="Calibri"/>
              </a:defRPr>
            </a:pPr>
            <a:r>
              <a:t>SIEM 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874520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CEF (Common Event Format) for ArcSight, Splunk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94560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LEEF (Log Event Extended Format) for QRadar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514600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Configurable syslog endpoints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834640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Real-time event streaming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154680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Custom field mapping per SIEM platform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657600"/>
            <a:ext cx="5349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657600"/>
            <a:ext cx="534924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74904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F59E0B"/>
                </a:solidFill>
                <a:latin typeface="Calibri"/>
              </a:defRPr>
            </a:pPr>
            <a:r>
              <a:t>MISP Connector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114800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Bi-directional threat intelligence sharing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434840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Push IOCs to MISP instances automatically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754880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Pull threat feeds from MISP communities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074920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STIX 2.0/2.1 format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394960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Automated correlation rule import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657600"/>
            <a:ext cx="5349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3657600"/>
            <a:ext cx="534924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74904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2C55E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114800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Slack — Block Kit formatted messages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434840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Microsoft Teams — Adaptive Cards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754880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Email alerts with HTML templates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074920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Configurable per-event notification rules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394960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Digest mode — hourly/daily summaries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Subscription Tiers &amp;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9CA3AF"/>
                </a:solidFill>
                <a:latin typeface="Calibri"/>
              </a:defRPr>
            </a:pPr>
            <a:r>
              <a:t>Flexible plans for individuals to enterprises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417320"/>
            <a:ext cx="2743200" cy="4206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274320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6596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3600" b="1">
                <a:solidFill>
                  <a:srgbClr val="22C55E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6888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9CA3AF"/>
                </a:solidFill>
                <a:latin typeface="Calibri"/>
              </a:defRPr>
            </a:pPr>
            <a:r>
              <a:t>50 searches/mo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788920"/>
            <a:ext cx="1828800" cy="12700"/>
          </a:xfrm>
          <a:prstGeom prst="rect">
            <a:avLst/>
          </a:prstGeom>
          <a:solidFill>
            <a:srgbClr val="30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80360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✓ Basic text &amp; face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200400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✓ Blurred restricted previews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520440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✓ Community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1417320"/>
            <a:ext cx="2743200" cy="4206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1417320"/>
            <a:ext cx="27432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155448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Starter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196596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3600" b="1">
                <a:solidFill>
                  <a:srgbClr val="3B82F6"/>
                </a:solidFill>
                <a:latin typeface="Calibri"/>
              </a:defRPr>
            </a:pPr>
            <a:r>
              <a:t>$29/mo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46888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9CA3AF"/>
                </a:solidFill>
                <a:latin typeface="Calibri"/>
              </a:defRPr>
            </a:pPr>
            <a:r>
              <a:t>500 searches/mo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40" y="2788920"/>
            <a:ext cx="1828800" cy="12700"/>
          </a:xfrm>
          <a:prstGeom prst="rect">
            <a:avLst/>
          </a:prstGeom>
          <a:solidFill>
            <a:srgbClr val="30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2880360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✓ Full text search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200400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✓ Surface web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520440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✓ Email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840480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✓ 1 organization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1417320"/>
            <a:ext cx="2743200" cy="4206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1417320"/>
            <a:ext cx="27432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155448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Professional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196596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3600" b="1">
                <a:solidFill>
                  <a:srgbClr val="F59E0B"/>
                </a:solidFill>
                <a:latin typeface="Calibri"/>
              </a:defRPr>
            </a:pPr>
            <a:r>
              <a:t>$99/mo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46888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9CA3AF"/>
                </a:solidFill>
                <a:latin typeface="Calibri"/>
              </a:defRPr>
            </a:pPr>
            <a:r>
              <a:t>5,000 searches/mo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29400" y="2788920"/>
            <a:ext cx="1828800" cy="12700"/>
          </a:xfrm>
          <a:prstGeom prst="rect">
            <a:avLst/>
          </a:prstGeom>
          <a:solidFill>
            <a:srgbClr val="30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2880360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✓ All data sources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200400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✓ API access included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520440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✓ Priority support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840480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✓ 5 organizations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160520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✓ Basic integrations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52560" y="1417320"/>
            <a:ext cx="2743200" cy="4206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52560" y="1417320"/>
            <a:ext cx="2743200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440" y="155448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196596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3600" b="1">
                <a:solidFill>
                  <a:srgbClr val="DC2626"/>
                </a:solidFill>
                <a:latin typeface="Calibri"/>
              </a:defRPr>
            </a:pPr>
            <a:r>
              <a:t>Custom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246888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9CA3AF"/>
                </a:solidFill>
                <a:latin typeface="Calibri"/>
              </a:defRPr>
            </a:pPr>
            <a:r>
              <a:t>Unlimited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09760" y="2788920"/>
            <a:ext cx="1828800" cy="12700"/>
          </a:xfrm>
          <a:prstGeom prst="rect">
            <a:avLst/>
          </a:prstGeom>
          <a:solidFill>
            <a:srgbClr val="30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2880360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✓ All features enabled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3200400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✓ Custom integrations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3520440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✓ Dedicated support &amp; SLA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3840480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✓ Unlimited organizations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4160520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✓ White-label branding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0" y="4480560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✓ Reseller access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9CA3AF"/>
                </a:solidFill>
                <a:latin typeface="Calibri"/>
              </a:defRPr>
            </a:pPr>
            <a:r>
              <a:t>Enterprise-grade security with defense-in-depth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349240" cy="22402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534924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0876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DC2626"/>
                </a:solidFill>
                <a:latin typeface="Calibri"/>
              </a:defRPr>
            </a:pPr>
            <a:r>
              <a:t>Authentication &amp; Authorization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874520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• JWT access + refresh token rotation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167128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• Two-factor authentication (TOTP)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459736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• bcrypt password hashing (12 rounds)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752344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• Role-based access control (4 roles)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044952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• API key management with scoped permissions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337560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• Session management with IP binding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417320"/>
            <a:ext cx="5349240" cy="22402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417320"/>
            <a:ext cx="53492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50876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3B82F6"/>
                </a:solidFill>
                <a:latin typeface="Calibri"/>
              </a:defRPr>
            </a:pPr>
            <a:r>
              <a:t>Network &amp; 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874520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• HTTPS/TLS 1.3 enforcement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167128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• Rate limiting (token bucket algorithm)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459736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• CSRF protection with double-submit cookies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752344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• Content Security Policy (CSP) headers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044952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• HSTS with preload and includeSubDomains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337560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• X-Frame-Options, X-Content-Type-Options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904488"/>
            <a:ext cx="5349240" cy="22402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3904488"/>
            <a:ext cx="534924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995928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22C55E"/>
                </a:solidFill>
                <a:latin typeface="Calibri"/>
              </a:defRPr>
            </a:pPr>
            <a:r>
              <a:t>Data Protection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361688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• Input validation &amp; sanitization (all endpoints)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654296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• Parameterized queries — SQL injection prevention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946904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• Output encoding — XSS prevention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239512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• Row-Level Security for multi-tenant isolation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532120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• Encryption at rest for sensitive fields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824728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• Prepared statements throughout data layer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3904488"/>
            <a:ext cx="5349240" cy="22402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3904488"/>
            <a:ext cx="534924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3995928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F59E0B"/>
                </a:solidFill>
                <a:latin typeface="Calibri"/>
              </a:defRPr>
            </a:pPr>
            <a:r>
              <a:t>Monitoring &amp; Compliance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361688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• Comprehensive audit logging (all user actions)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654296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• Security event monitoring &amp; alerting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946904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• OWASP Top 10 compliance verified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5239512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• Automated vulnerability scanning (ZAP)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532120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• Penetration testing conducted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824728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• GDPR-ready data handling practices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1828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800" b="1">
                <a:solidFill>
                  <a:srgbClr val="DC2626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Implementation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749039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600" b="0">
                <a:solidFill>
                  <a:srgbClr val="9CA3AF"/>
                </a:solidFill>
                <a:latin typeface="Calibri"/>
              </a:defRPr>
            </a:pPr>
            <a:r>
              <a:t>Development methodology, statistics, and future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434840"/>
            <a:ext cx="27432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Intel Forge  •  CTI &amp; OSINT Platform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Development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9CA3AF"/>
                </a:solidFill>
                <a:latin typeface="Calibri"/>
              </a:defRPr>
            </a:pPr>
            <a:r>
              <a:t>Hybrid Agile/Iterative approach over 20 weeks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640080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6400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72768"/>
            <a:ext cx="5943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3B82F6"/>
                </a:solidFill>
                <a:latin typeface="Calibri"/>
              </a:defRPr>
            </a:pPr>
            <a:r>
              <a:t>Development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65960"/>
            <a:ext cx="5852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D1D5DB"/>
                </a:solidFill>
                <a:latin typeface="Calibri"/>
              </a:defRPr>
            </a:pPr>
            <a:r>
              <a:t>▸ Hybrid Agile/Iterative with Waterfall planning phases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13432"/>
            <a:ext cx="5852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D1D5DB"/>
                </a:solidFill>
                <a:latin typeface="Calibri"/>
              </a:defRPr>
            </a:pPr>
            <a:r>
              <a:t>▸ 20-week project timeline with 2-week sprint cycles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60904"/>
            <a:ext cx="5852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D1D5DB"/>
                </a:solidFill>
                <a:latin typeface="Calibri"/>
              </a:defRPr>
            </a:pPr>
            <a:r>
              <a:t>▸ Version control: Git with feature branch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08376"/>
            <a:ext cx="5852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D1D5DB"/>
                </a:solidFill>
                <a:latin typeface="Calibri"/>
              </a:defRPr>
            </a:pPr>
            <a:r>
              <a:t>▸ Code review process with PR templates and checklists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355848"/>
            <a:ext cx="5852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D1D5DB"/>
                </a:solidFill>
                <a:latin typeface="Calibri"/>
              </a:defRPr>
            </a:pPr>
            <a:r>
              <a:t>▸ CI/CD pipeline: GitHub Actions for linting, testing, building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03320"/>
            <a:ext cx="5852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D1D5DB"/>
                </a:solidFill>
                <a:latin typeface="Calibri"/>
              </a:defRPr>
            </a:pPr>
            <a:r>
              <a:t>▸ Docker-based development environment for consistency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463040"/>
            <a:ext cx="402336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1463040"/>
            <a:ext cx="402336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1572768"/>
            <a:ext cx="3566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22C55E"/>
                </a:solidFill>
                <a:latin typeface="Calibri"/>
              </a:defRPr>
            </a:pPr>
            <a:r>
              <a:t>Testing 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965960"/>
            <a:ext cx="3474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Unit tests: Jest (Frontend), pytest (Python)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313432"/>
            <a:ext cx="3474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Integration tests: API endpoint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660904"/>
            <a:ext cx="3474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E2E tests: Playwright for critical user flows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008376"/>
            <a:ext cx="3474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Security: OWASP ZAP automated scanning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355848"/>
            <a:ext cx="3474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Performance: k6 load testing (1000+ RPS)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703320"/>
            <a:ext cx="3474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▸ Penetration testing: manual + automated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160520"/>
            <a:ext cx="10698480" cy="14630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27939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F59E0B"/>
                </a:solidFill>
                <a:latin typeface="Calibri"/>
              </a:defRPr>
            </a:pPr>
            <a:r>
              <a:t>Documentation &amp; Design Artifacts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617720"/>
            <a:ext cx="1828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F59E0B"/>
                </a:solidFill>
                <a:latin typeface="Calibri"/>
              </a:defRPr>
            </a:pPr>
            <a:r>
              <a:t>SRS Document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4617720"/>
            <a:ext cx="8046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D1D5DB"/>
                </a:solidFill>
                <a:latin typeface="Calibri"/>
              </a:defRPr>
            </a:pPr>
            <a:r>
              <a:t>Complete Software Requirements Specification with functional &amp; non-functional requirements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928616"/>
            <a:ext cx="1828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F59E0B"/>
                </a:solidFill>
                <a:latin typeface="Calibri"/>
              </a:defRPr>
            </a:pPr>
            <a:r>
              <a:t>Design Document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4928616"/>
            <a:ext cx="8046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D1D5DB"/>
                </a:solidFill>
                <a:latin typeface="Calibri"/>
              </a:defRPr>
            </a:pPr>
            <a:r>
              <a:t>System architecture, 18 UML diagrams, database schema, API specifications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239512"/>
            <a:ext cx="1828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F59E0B"/>
                </a:solidFill>
                <a:latin typeface="Calibri"/>
              </a:defRPr>
            </a:pPr>
            <a:r>
              <a:t>Test Plan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5239512"/>
            <a:ext cx="8046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D1D5DB"/>
                </a:solidFill>
                <a:latin typeface="Calibri"/>
              </a:defRPr>
            </a:pPr>
            <a:r>
              <a:t>Test cases, test matrices, validation procedures, and acceptance criteria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550408"/>
            <a:ext cx="1828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F59E0B"/>
                </a:solidFill>
                <a:latin typeface="Calibri"/>
              </a:defRPr>
            </a:pPr>
            <a:r>
              <a:t>User Manual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5550408"/>
            <a:ext cx="8046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D1D5DB"/>
                </a:solidFill>
                <a:latin typeface="Calibri"/>
              </a:defRPr>
            </a:pPr>
            <a:r>
              <a:t>Installation guide, user documentation, API reference, and administrator guide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API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9CA3AF"/>
                </a:solidFill>
                <a:latin typeface="Calibri"/>
              </a:defRPr>
            </a:pPr>
            <a:r>
              <a:t>RESTful API design with comprehensive endpoint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61188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36118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087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3B82F6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74520"/>
            <a:ext cx="3246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D1D5DB"/>
                </a:solidFill>
                <a:latin typeface="Consolas"/>
              </a:defRPr>
            </a:pPr>
            <a:r>
              <a:t>POST /api/auth/login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203704"/>
            <a:ext cx="3246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D1D5DB"/>
                </a:solidFill>
                <a:latin typeface="Consolas"/>
              </a:defRPr>
            </a:pPr>
            <a:r>
              <a:t>POST /api/auth/register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32888"/>
            <a:ext cx="3246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D1D5DB"/>
                </a:solidFill>
                <a:latin typeface="Consolas"/>
              </a:defRPr>
            </a:pPr>
            <a:r>
              <a:t>POST /api/auth/2fa/verify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62072"/>
            <a:ext cx="3246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D1D5DB"/>
                </a:solidFill>
                <a:latin typeface="Consolas"/>
              </a:defRPr>
            </a:pPr>
            <a:r>
              <a:t>POST /api/auth/refresh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191256"/>
            <a:ext cx="3246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D1D5DB"/>
                </a:solidFill>
                <a:latin typeface="Consolas"/>
              </a:defRPr>
            </a:pPr>
            <a:r>
              <a:t>POST /api/auth/logout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417320"/>
            <a:ext cx="361188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417320"/>
            <a:ext cx="36118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5087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3B82F6"/>
                </a:solidFill>
                <a:latin typeface="Calibri"/>
              </a:defRPr>
            </a:pPr>
            <a:r>
              <a:t>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1874520"/>
            <a:ext cx="3246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D1D5DB"/>
                </a:solidFill>
                <a:latin typeface="Consolas"/>
              </a:defRPr>
            </a:pPr>
            <a:r>
              <a:t>POST /api/search/text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203704"/>
            <a:ext cx="3246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D1D5DB"/>
                </a:solidFill>
                <a:latin typeface="Consolas"/>
              </a:defRPr>
            </a:pPr>
            <a:r>
              <a:t>POST /api/search/face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532888"/>
            <a:ext cx="3246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D1D5DB"/>
                </a:solidFill>
                <a:latin typeface="Consolas"/>
              </a:defRPr>
            </a:pPr>
            <a:r>
              <a:t>GET /api/search/history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862072"/>
            <a:ext cx="3246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D1D5DB"/>
                </a:solidFill>
                <a:latin typeface="Consolas"/>
              </a:defRPr>
            </a:pPr>
            <a:r>
              <a:t>GET /api/search/:id/results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1417320"/>
            <a:ext cx="361188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1417320"/>
            <a:ext cx="36118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15087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3B82F6"/>
                </a:solidFill>
                <a:latin typeface="Calibri"/>
              </a:defRPr>
            </a:pPr>
            <a:r>
              <a:t>Organizations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1874520"/>
            <a:ext cx="3246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D1D5DB"/>
                </a:solidFill>
                <a:latin typeface="Consolas"/>
              </a:defRPr>
            </a:pPr>
            <a:r>
              <a:t>GET /api/organizations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203704"/>
            <a:ext cx="3246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D1D5DB"/>
                </a:solidFill>
                <a:latin typeface="Consolas"/>
              </a:defRPr>
            </a:pPr>
            <a:r>
              <a:t>POST /api/organizations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532888"/>
            <a:ext cx="3246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D1D5DB"/>
                </a:solidFill>
                <a:latin typeface="Consolas"/>
              </a:defRPr>
            </a:pPr>
            <a:r>
              <a:t>GET /api/organizations/:id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862072"/>
            <a:ext cx="3246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D1D5DB"/>
                </a:solidFill>
                <a:latin typeface="Consolas"/>
              </a:defRPr>
            </a:pPr>
            <a:r>
              <a:t>POST /api/organizations/:id/members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191256"/>
            <a:ext cx="3246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D1D5DB"/>
                </a:solidFill>
                <a:latin typeface="Consolas"/>
              </a:defRPr>
            </a:pPr>
            <a:r>
              <a:t>POST /api/organizations/switch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749040"/>
            <a:ext cx="361188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3749040"/>
            <a:ext cx="36118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38404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3B82F6"/>
                </a:solidFill>
                <a:latin typeface="Calibri"/>
              </a:defRPr>
            </a:pPr>
            <a:r>
              <a:t>Integrations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206240"/>
            <a:ext cx="3246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D1D5DB"/>
                </a:solidFill>
                <a:latin typeface="Consolas"/>
              </a:defRPr>
            </a:pPr>
            <a:r>
              <a:t>GET /api/integrations/webhooks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535424"/>
            <a:ext cx="3246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D1D5DB"/>
                </a:solidFill>
                <a:latin typeface="Consolas"/>
              </a:defRPr>
            </a:pPr>
            <a:r>
              <a:t>POST /api/integrations/webhooks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864608"/>
            <a:ext cx="3246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D1D5DB"/>
                </a:solidFill>
                <a:latin typeface="Consolas"/>
              </a:defRPr>
            </a:pPr>
            <a:r>
              <a:t>PATCH /api/integrations/webhooks/:id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193792"/>
            <a:ext cx="3246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D1D5DB"/>
                </a:solidFill>
                <a:latin typeface="Consolas"/>
              </a:defRPr>
            </a:pPr>
            <a:r>
              <a:t>POST /api/integrations/siem/export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522976"/>
            <a:ext cx="3246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D1D5DB"/>
                </a:solidFill>
                <a:latin typeface="Consolas"/>
              </a:defRPr>
            </a:pPr>
            <a:r>
              <a:t>POST /api/integrations/misp/sync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3749040"/>
            <a:ext cx="361188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97680" y="3749040"/>
            <a:ext cx="36118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38404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3B82F6"/>
                </a:solidFill>
                <a:latin typeface="Calibri"/>
              </a:defRPr>
            </a:pPr>
            <a:r>
              <a:t>Reseller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4206240"/>
            <a:ext cx="3246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D1D5DB"/>
                </a:solidFill>
                <a:latin typeface="Consolas"/>
              </a:defRPr>
            </a:pPr>
            <a:r>
              <a:t>GET /api/reseller/dashboard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4535424"/>
            <a:ext cx="3246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D1D5DB"/>
                </a:solidFill>
                <a:latin typeface="Consolas"/>
              </a:defRPr>
            </a:pPr>
            <a:r>
              <a:t>POST /api/reseller/clients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4864608"/>
            <a:ext cx="3246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D1D5DB"/>
                </a:solidFill>
                <a:latin typeface="Consolas"/>
              </a:defRPr>
            </a:pPr>
            <a:r>
              <a:t>PATCH /api/reseller/clients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5193792"/>
            <a:ext cx="3246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D1D5DB"/>
                </a:solidFill>
                <a:latin typeface="Consolas"/>
              </a:defRPr>
            </a:pPr>
            <a:r>
              <a:t>GET /api/admin/resellers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92440" y="3749040"/>
            <a:ext cx="361188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92440" y="3749040"/>
            <a:ext cx="36118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75320" y="38404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3B82F6"/>
                </a:solidFill>
                <a:latin typeface="Calibri"/>
              </a:defRPr>
            </a:pPr>
            <a:r>
              <a:t>White-Label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4206240"/>
            <a:ext cx="3246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D1D5DB"/>
                </a:solidFill>
                <a:latin typeface="Consolas"/>
              </a:defRPr>
            </a:pPr>
            <a:r>
              <a:t>GET /api/tenant/branding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4535424"/>
            <a:ext cx="3246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D1D5DB"/>
                </a:solidFill>
                <a:latin typeface="Consolas"/>
              </a:defRPr>
            </a:pPr>
            <a:r>
              <a:t>PUT /api/tenant/branding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4864608"/>
            <a:ext cx="3246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D1D5DB"/>
                </a:solidFill>
                <a:latin typeface="Consolas"/>
              </a:defRPr>
            </a:pPr>
            <a:r>
              <a:t>POST /api/tenant/domain/verify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System Design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9CA3AF"/>
                </a:solidFill>
                <a:latin typeface="Calibri"/>
              </a:defRPr>
            </a:pPr>
            <a:r>
              <a:t>18 comprehensive UML diagrams documenting the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349240" cy="1965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53492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3B82F6"/>
                </a:solidFill>
                <a:latin typeface="Calibri"/>
              </a:defRPr>
            </a:pPr>
            <a:r>
              <a:t>Functional Modeling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20240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Use Case Diagram — 34 use cases across 5 actors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276856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Activity Diagrams — Face Search flow, Automation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33472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Sequence Diagrams — Search operation, Data ingestion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90088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Collaboration Diagram — Component interactions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463040"/>
            <a:ext cx="5349240" cy="1965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463040"/>
            <a:ext cx="534924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55448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2C55E"/>
                </a:solidFill>
                <a:latin typeface="Calibri"/>
              </a:defRPr>
            </a:pPr>
            <a:r>
              <a:t>Structural Modeling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920240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Class Diagram — Full object-oriented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276856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Entity-Relationship Diagram — 55+ tables mapped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633472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Software Architecture Diagram — Layered MVC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990088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Network Architecture Diagram — Deployment topology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703320"/>
            <a:ext cx="5349240" cy="1965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703320"/>
            <a:ext cx="534924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79476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F59E0B"/>
                </a:solidFill>
                <a:latin typeface="Calibri"/>
              </a:defRPr>
            </a:pPr>
            <a:r>
              <a:t>Data Flow Modeling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160520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Data Flow Diagram Level 0 — Context diagram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517136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Data Flow Diagram Level 1 — Major processes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873752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Data Flow Diagram Level 2 — Process decomposition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230368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State Diagram — System state transitions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703320"/>
            <a:ext cx="5349240" cy="1965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703320"/>
            <a:ext cx="534924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79476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DC2626"/>
                </a:solidFill>
                <a:latin typeface="Calibri"/>
              </a:defRPr>
            </a:pPr>
            <a:r>
              <a:t>Project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160520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Work Breakdown Structure (WBS) — Task hierarchy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517136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Gantt Chart — 20-week project timeline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4873752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Risk Matrix — Probability vs Impact assessment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5230368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D1D5DB"/>
                </a:solidFill>
                <a:latin typeface="Calibri"/>
              </a:defRPr>
            </a:pPr>
            <a:r>
              <a:t>• Resource Allocation — Team member assignments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Platform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9CA3AF"/>
                </a:solidFill>
                <a:latin typeface="Calibri"/>
              </a:defRPr>
            </a:pPr>
            <a:r>
              <a:t>Intel Forge by the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417320"/>
            <a:ext cx="2743200" cy="1554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27432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2377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4400" b="1">
                <a:solidFill>
                  <a:srgbClr val="3B82F6"/>
                </a:solidFill>
                <a:latin typeface="Calibri"/>
              </a:defRPr>
            </a:pPr>
            <a:r>
              <a:t>55+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031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Database Tables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37744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CA3AF"/>
                </a:solidFill>
                <a:latin typeface="Calibri"/>
              </a:defRPr>
            </a:pPr>
            <a:r>
              <a:t>6 schemas with 3NF normalization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417320"/>
            <a:ext cx="2743200" cy="1554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417320"/>
            <a:ext cx="274320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1554480"/>
            <a:ext cx="2377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4400" b="1">
                <a:solidFill>
                  <a:srgbClr val="22C55E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1031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Webhook 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37744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CA3AF"/>
                </a:solidFill>
                <a:latin typeface="Calibri"/>
              </a:defRPr>
            </a:pPr>
            <a:r>
              <a:t>Typed event system with HMAC signing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417320"/>
            <a:ext cx="2743200" cy="1554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1417320"/>
            <a:ext cx="2743200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554480"/>
            <a:ext cx="2377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4400" b="1">
                <a:solidFill>
                  <a:srgbClr val="DC2626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1031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AI/ML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37744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CA3AF"/>
                </a:solidFill>
                <a:latin typeface="Calibri"/>
              </a:defRPr>
            </a:pPr>
            <a:r>
              <a:t>ArcFace, UniFace, SigLIP, DINOv2, YOLOv8, MTCNN, OCR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417320"/>
            <a:ext cx="2743200" cy="1554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417320"/>
            <a:ext cx="27432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1554480"/>
            <a:ext cx="2377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4400" b="1">
                <a:solidFill>
                  <a:srgbClr val="F59E0B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1031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UML Diagrams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37744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CA3AF"/>
                </a:solidFill>
                <a:latin typeface="Calibri"/>
              </a:defRPr>
            </a:pPr>
            <a:r>
              <a:t>Use case, sequence, class, DFD, ERD, deployment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200400"/>
            <a:ext cx="21031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200400"/>
            <a:ext cx="21031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703320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800" b="1">
                <a:solidFill>
                  <a:srgbClr val="3B82F6"/>
                </a:solidFill>
                <a:latin typeface="Calibri"/>
              </a:defRPr>
            </a:pPr>
            <a:r>
              <a:t>3+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20624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9CA3AF"/>
                </a:solidFill>
                <a:latin typeface="Calibri"/>
              </a:defRPr>
            </a:pPr>
            <a:r>
              <a:t>Data Sources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88920" y="3200400"/>
            <a:ext cx="21031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88920" y="3200400"/>
            <a:ext cx="210312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63240" y="3703320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800" b="1">
                <a:solidFill>
                  <a:srgbClr val="22C55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3240" y="420624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9CA3AF"/>
                </a:solidFill>
                <a:latin typeface="Calibri"/>
              </a:defRPr>
            </a:pPr>
            <a:r>
              <a:t>Subscription Tiers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74920" y="3200400"/>
            <a:ext cx="21031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74920" y="3200400"/>
            <a:ext cx="210312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9240" y="3703320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800" b="1">
                <a:solidFill>
                  <a:srgbClr val="F59E0B"/>
                </a:solidFill>
                <a:latin typeface="Calibri"/>
              </a:defRPr>
            </a:pPr>
            <a:r>
              <a:t>100+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9240" y="420624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9CA3AF"/>
                </a:solidFill>
                <a:latin typeface="Calibri"/>
              </a:defRPr>
            </a:pPr>
            <a:r>
              <a:t>DB Indexes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60920" y="3200400"/>
            <a:ext cx="21031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60920" y="3200400"/>
            <a:ext cx="210312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5240" y="3703320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800" b="1">
                <a:solidFill>
                  <a:srgbClr val="DC262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420624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9CA3AF"/>
                </a:solidFill>
                <a:latin typeface="Calibri"/>
              </a:defRPr>
            </a:pPr>
            <a:r>
              <a:t>Integration Types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46920" y="3200400"/>
            <a:ext cx="21031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646920" y="3200400"/>
            <a:ext cx="210312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21240" y="3703320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800" b="1">
                <a:solidFill>
                  <a:srgbClr val="A855F7"/>
                </a:solidFill>
                <a:latin typeface="Calibri"/>
              </a:defRPr>
            </a:pPr>
            <a:r>
              <a:t>&lt;2s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21240" y="420624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9CA3AF"/>
                </a:solidFill>
                <a:latin typeface="Calibri"/>
              </a:defRPr>
            </a:pPr>
            <a:r>
              <a:t>Search Response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4663440"/>
            <a:ext cx="10698480" cy="685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4773168"/>
            <a:ext cx="10241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D1D5DB"/>
                </a:solidFill>
                <a:latin typeface="Calibri"/>
              </a:defRPr>
            </a:pPr>
            <a:r>
              <a:t>Tech Stack: Next.js 16 + React 19 + TypeScript + Python FastAPI + Go + PostgreSQL 16 + Quickwit + Milvus + MinIO + Docker  |  100+ API Endpoints  |  Zero TypeScript Errors  |  Production Build Verified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Comparison with Existing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9CA3AF"/>
                </a:solidFill>
                <a:latin typeface="Calibri"/>
              </a:defRPr>
            </a:pPr>
            <a:r>
              <a:t>How Intel Forge compares to alternatives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508760"/>
            <a:ext cx="1143000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72768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57276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Intel Forge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57276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MISP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57276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SpiderFoot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57276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Maltego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157276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Shodan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1947672"/>
            <a:ext cx="11430000" cy="30175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975104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Face Recognition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1975104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2C55E"/>
                </a:solidFill>
                <a:latin typeface="Calibri"/>
              </a:defRPr>
            </a:pPr>
            <a:r>
              <a:t>✓ AI-Powered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975104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975104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975104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1975104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2276856"/>
            <a:ext cx="11430000" cy="301752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304288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Multi-Source Scraping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2304288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2C55E"/>
                </a:solidFill>
                <a:latin typeface="Calibri"/>
              </a:defRPr>
            </a:pPr>
            <a:r>
              <a:t>✓ 3+ 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2304288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304288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304288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2304288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2606040"/>
            <a:ext cx="11430000" cy="30175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633472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Dark Web Monitoring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2633472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2C55E"/>
                </a:solidFill>
                <a:latin typeface="Calibri"/>
              </a:defRPr>
            </a:pPr>
            <a:r>
              <a:t>✓ Automated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2633472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633472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633472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2633472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2935224"/>
            <a:ext cx="11430000" cy="301752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2962656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SaaS Multi-Tenant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2962656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2C55E"/>
                </a:solidFill>
                <a:latin typeface="Calibri"/>
              </a:defRPr>
            </a:pPr>
            <a:r>
              <a:t>✓ Full RBAC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2962656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2962656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2962656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2962656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3264408"/>
            <a:ext cx="11430000" cy="30175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291840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White-Label Platform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0" y="329184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2C55E"/>
                </a:solidFill>
                <a:latin typeface="Calibri"/>
              </a:defRPr>
            </a:pPr>
            <a:r>
              <a:t>✓ Complete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329184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329184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329184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329184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5760" y="3593592"/>
            <a:ext cx="11430000" cy="301752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3621024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SIEM Integration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3621024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2C55E"/>
                </a:solidFill>
                <a:latin typeface="Calibri"/>
              </a:defRPr>
            </a:pPr>
            <a:r>
              <a:t>✓ CEF + LEEF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0" y="3621024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3621024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3621024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3621024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5760" y="3922776"/>
            <a:ext cx="11430000" cy="30175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3950208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Threat Intelligence Sharing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0" y="3950208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2C55E"/>
                </a:solidFill>
                <a:latin typeface="Calibri"/>
              </a:defRPr>
            </a:pPr>
            <a:r>
              <a:t>✓ MISP + STIX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54880" y="3950208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✓ MISP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0" y="3950208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12480" y="3950208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41280" y="3950208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65760" y="4251960"/>
            <a:ext cx="11430000" cy="301752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4279392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Webhook System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43200" y="4279392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2C55E"/>
                </a:solidFill>
                <a:latin typeface="Calibri"/>
              </a:defRPr>
            </a:pPr>
            <a:r>
              <a:t>✓ 14 Events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54880" y="4279392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0" y="4279392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12480" y="4279392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41280" y="4279392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65760" y="4581144"/>
            <a:ext cx="11430000" cy="30175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4608576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Reseller Platform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43200" y="4608576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2C55E"/>
                </a:solidFill>
                <a:latin typeface="Calibri"/>
              </a:defRPr>
            </a:pPr>
            <a:r>
              <a:t>✓ Built-in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54880" y="4608576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4608576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12480" y="4608576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41280" y="4608576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65760" y="4910328"/>
            <a:ext cx="11430000" cy="301752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4937760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API Access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0" y="49377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2C55E"/>
                </a:solidFill>
                <a:latin typeface="Calibri"/>
              </a:defRPr>
            </a:pPr>
            <a:r>
              <a:t>✓ RESTful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54880" y="493776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✓ REST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83680" y="493776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12480" y="493776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✓ API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241280" y="493776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✓ API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31520" y="5120640"/>
            <a:ext cx="10698480" cy="5029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05840" y="5193792"/>
            <a:ext cx="10241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D1D5DB"/>
                </a:solidFill>
                <a:latin typeface="Calibri"/>
              </a:defRPr>
            </a:pPr>
            <a:r>
              <a:t>Intel Forge is the only platform that combines CTI, OSINT, AI face recognition, multi-tenant SaaS, white-label, and reseller capabilities in a single unified system.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9CA3AF"/>
                </a:solidFill>
                <a:latin typeface="Calibri"/>
              </a:defRPr>
            </a:pPr>
            <a:r>
              <a:t>Planned enhancements and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50800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3B82F6"/>
                </a:solidFill>
                <a:latin typeface="Calibri"/>
              </a:defRPr>
            </a:pPr>
            <a:r>
              <a:t>ML Model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87452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CA3AF"/>
                </a:solidFill>
                <a:latin typeface="Calibri"/>
              </a:defRPr>
            </a:pPr>
            <a:r>
              <a:t>Custom model training pipeline for domain-specific face recognition and threat classification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1732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417320"/>
            <a:ext cx="50800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5087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22C55E"/>
                </a:solidFill>
                <a:latin typeface="Calibri"/>
              </a:defRPr>
            </a:pPr>
            <a:r>
              <a:t>Video &amp; Audio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87452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CA3AF"/>
                </a:solidFill>
                <a:latin typeface="Calibri"/>
              </a:defRPr>
            </a:pPr>
            <a:r>
              <a:t>Extend search capabilities to video frames and audio transcription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0604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606040"/>
            <a:ext cx="5080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69748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F59E0B"/>
                </a:solidFill>
                <a:latin typeface="Calibri"/>
              </a:defRPr>
            </a:pPr>
            <a:r>
              <a:t>Mobile 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06324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CA3AF"/>
                </a:solidFill>
                <a:latin typeface="Calibri"/>
              </a:defRPr>
            </a:pPr>
            <a:r>
              <a:t>React Native mobile app for on-the-go intelligence access and alert notifications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60604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606040"/>
            <a:ext cx="50800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69748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DC2626"/>
                </a:solidFill>
                <a:latin typeface="Calibri"/>
              </a:defRPr>
            </a:pPr>
            <a:r>
              <a:t>Advanced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06324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CA3AF"/>
                </a:solidFill>
                <a:latin typeface="Calibri"/>
              </a:defRPr>
            </a:pPr>
            <a:r>
              <a:t>AI-driven threat prediction, anomaly detection, and automated risk scoring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79476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794760"/>
            <a:ext cx="50800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3B82F6"/>
                </a:solidFill>
                <a:latin typeface="Calibri"/>
              </a:defRPr>
            </a:pPr>
            <a:r>
              <a:t>External Threat Feeds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25196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CA3AF"/>
                </a:solidFill>
                <a:latin typeface="Calibri"/>
              </a:defRPr>
            </a:pPr>
            <a:r>
              <a:t>Integration with AlienVault OTX, VirusTotal, and commercial threat intelligence providers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79476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794760"/>
            <a:ext cx="50800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88620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22C55E"/>
                </a:solidFill>
                <a:latin typeface="Calibri"/>
              </a:defRPr>
            </a:pPr>
            <a:r>
              <a:t>Multi-Language NLP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25196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CA3AF"/>
                </a:solidFill>
                <a:latin typeface="Calibri"/>
              </a:defRPr>
            </a:pPr>
            <a:r>
              <a:t>Natural language processing for non-English threat content across dark web and Telegram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98348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4983480"/>
            <a:ext cx="5080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07492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F59E0B"/>
                </a:solidFill>
                <a:latin typeface="Calibri"/>
              </a:defRPr>
            </a:pPr>
            <a:r>
              <a:t>Blockchain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544068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CA3AF"/>
                </a:solidFill>
                <a:latin typeface="Calibri"/>
              </a:defRPr>
            </a:pPr>
            <a:r>
              <a:t>Cryptocurrency transaction tracking for ransomware and dark web marketplace intelligence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98348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4983480"/>
            <a:ext cx="50800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507492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DC2626"/>
                </a:solidFill>
                <a:latin typeface="Calibri"/>
              </a:defRPr>
            </a:pPr>
            <a:r>
              <a:t>Federated Search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544068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CA3AF"/>
                </a:solidFill>
                <a:latin typeface="Calibri"/>
              </a:defRPr>
            </a:pPr>
            <a:r>
              <a:t>Cross-instance search federation for intelligence sharing between organizations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Key Achievements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0">
                <a:solidFill>
                  <a:srgbClr val="9CA3AF"/>
                </a:solidFill>
                <a:latin typeface="Calibri"/>
              </a:defRPr>
            </a:pPr>
            <a:r>
              <a:t>What we accomplished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50800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22C55E"/>
                </a:solidFill>
                <a:latin typeface="Calibri"/>
              </a:defRPr>
            </a:pPr>
            <a:r>
              <a:t>Complete CTI/OSINT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828800"/>
            <a:ext cx="48463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9CA3AF"/>
                </a:solidFill>
                <a:latin typeface="Calibri"/>
              </a:defRPr>
            </a:pPr>
            <a:r>
              <a:t>Successfully developed a comprehensive intelligence platform integrating automated data collection, AI-powered search, and enterprise SaaS features.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1732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417320"/>
            <a:ext cx="50800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5087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22C55E"/>
                </a:solidFill>
                <a:latin typeface="Calibri"/>
              </a:defRPr>
            </a:pPr>
            <a:r>
              <a:t>AI Face Recognition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828800"/>
            <a:ext cx="48463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9CA3AF"/>
                </a:solidFill>
                <a:latin typeface="Calibri"/>
              </a:defRPr>
            </a:pPr>
            <a:r>
              <a:t>Implemented state-of-the-art face recognition using ArcFace, UniFace, SigLIP, and DINOv2 models with 99.5%+ accuracy on LFW benchmark.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0604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606040"/>
            <a:ext cx="50800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69748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22C55E"/>
                </a:solidFill>
                <a:latin typeface="Calibri"/>
              </a:defRPr>
            </a:pPr>
            <a:r>
              <a:t>Multi-Source Data Collection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017520"/>
            <a:ext cx="48463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9CA3AF"/>
                </a:solidFill>
                <a:latin typeface="Calibri"/>
              </a:defRPr>
            </a:pPr>
            <a:r>
              <a:t>Automated scraping from surface web, Telegram channels, and dark web (Tor) with real-time indexing and deduplication.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60604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606040"/>
            <a:ext cx="50800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69748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22C55E"/>
                </a:solidFill>
                <a:latin typeface="Calibri"/>
              </a:defRPr>
            </a:pPr>
            <a:r>
              <a:t>Enterprise SaaS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017520"/>
            <a:ext cx="48463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9CA3AF"/>
                </a:solidFill>
                <a:latin typeface="Calibri"/>
              </a:defRPr>
            </a:pPr>
            <a:r>
              <a:t>Built multi-tenant organization management, white-label branding, reseller platform, and tiered subscription system.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79476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794760"/>
            <a:ext cx="50800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22C55E"/>
                </a:solidFill>
                <a:latin typeface="Calibri"/>
              </a:defRPr>
            </a:pPr>
            <a:r>
              <a:t>Security-First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206240"/>
            <a:ext cx="48463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9CA3AF"/>
                </a:solidFill>
                <a:latin typeface="Calibri"/>
              </a:defRPr>
            </a:pPr>
            <a:r>
              <a:t>Achieved OWASP Top 10 compliance with JWT/2FA auth, RBAC, CSRF protection, comprehensive audit logging, and penetration testing.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79476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794760"/>
            <a:ext cx="50800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88620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22C55E"/>
                </a:solidFill>
                <a:latin typeface="Calibri"/>
              </a:defRPr>
            </a:pPr>
            <a:r>
              <a:t>Integration Ecosystem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206240"/>
            <a:ext cx="48463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9CA3AF"/>
                </a:solidFill>
                <a:latin typeface="Calibri"/>
              </a:defRPr>
            </a:pPr>
            <a:r>
              <a:t>Developed webhook system (14 events), SIEM export (CEF/LEEF), MISP connector, and Slack/Teams/Email notifications.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98348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4983480"/>
            <a:ext cx="50800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07492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22C55E"/>
                </a:solidFill>
                <a:latin typeface="Calibri"/>
              </a:defRPr>
            </a:pPr>
            <a:r>
              <a:t>Production-Ready Codebase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5394960"/>
            <a:ext cx="48463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9CA3AF"/>
                </a:solidFill>
                <a:latin typeface="Calibri"/>
              </a:defRPr>
            </a:pPr>
            <a:r>
              <a:t>Zero TypeScript errors, production build verified, 55+ database tables, 100+ API endpoints, and comprehensive documentation.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98348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4983480"/>
            <a:ext cx="50800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507492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22C55E"/>
                </a:solidFill>
                <a:latin typeface="Calibri"/>
              </a:defRPr>
            </a:pPr>
            <a:r>
              <a:t>Complete Documentation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5394960"/>
            <a:ext cx="48463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9CA3AF"/>
                </a:solidFill>
                <a:latin typeface="Calibri"/>
              </a:defRPr>
            </a:pPr>
            <a:r>
              <a:t>Delivered SRS, design document (18 UML diagrams), test plan, user manual, and API reference documentation.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8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926080"/>
            <a:ext cx="2286000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200" b="0">
                <a:solidFill>
                  <a:srgbClr val="3B82F6"/>
                </a:solidFill>
                <a:latin typeface="Calibri"/>
              </a:defRPr>
            </a:pPr>
            <a:r>
              <a:t>Intel Forge: CTI &amp; OSINT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800" b="0">
                <a:solidFill>
                  <a:srgbClr val="9CA3A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4754880"/>
            <a:ext cx="7589520" cy="10972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4892040"/>
            <a:ext cx="7040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D1D5DB"/>
                </a:solidFill>
                <a:latin typeface="Calibri"/>
              </a:defRPr>
            </a:pPr>
            <a:r>
              <a:t>Final Year Project  •  Batch 2022-2026  •  Department of Computer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5212080"/>
            <a:ext cx="7040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9CA3AF"/>
                </a:solidFill>
                <a:latin typeface="Calibri"/>
              </a:defRPr>
            </a:pPr>
            <a:r>
              <a:t>Supervised by: Dr. [Supervisor Name]  |  [University Name]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Intel Forge  •  CTI &amp; OSINT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